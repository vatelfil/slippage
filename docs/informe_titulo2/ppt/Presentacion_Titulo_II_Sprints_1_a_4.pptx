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fdb90bf1-49f0-0b12-d4d7-6cec0976e6e6}">
          <p14:sldIdLst>
            <p14:sldId id="256"/>
            <p14:sldId id="257"/>
          </p14:sldIdLst>
        </p14:section>
        <p14:section name="Plan" id="{0dc277a2-2ab4-39f3-d28a-9d7b07bc010b}">
          <p14:sldIdLst>
            <p14:sldId id="258"/>
            <p14:sldId id="259"/>
          </p14:sldIdLst>
        </p14:section>
        <p14:section name="Sprint 1 y 2" id="{0e5894b2-d358-9986-c8b9-49fd899bba43}">
          <p14:sldIdLst>
            <p14:sldId id="260"/>
            <p14:sldId id="261"/>
          </p14:sldIdLst>
        </p14:section>
        <p14:section name="Sprint 3" id="{2d9a5b3e-11c9-68c3-0330-bd837552cf96}">
          <p14:sldIdLst>
            <p14:sldId id="262"/>
            <p14:sldId id="263"/>
          </p14:sldIdLst>
        </p14:section>
        <p14:section name="Sprint 4" id="{88b64459-3ba2-bbf9-d32e-8caa0d39fc5f}">
          <p14:sldIdLst>
            <p14:sldId id="264"/>
            <p14:sldId id="265"/>
            <p14:sldId id="266"/>
            <p14:sldId id="267"/>
          </p14:sldIdLst>
        </p14:section>
        <p14:section name="Balance" id="{bc9520ff-e7e5-e133-decd-66211ed3349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C"/>
                </a:solidFill>
                <a:latin typeface="+mn-lt"/>
              </a:defRPr>
            </a:pPr>
            <a:r>
              <a:rPr sz="1200" b="0" i="0" u="none" strike="noStrike">
                <a:solidFill>
                  <a:srgbClr val="1A1F3C"/>
                </a:solidFill>
                <a:latin typeface="+mn-lt"/>
              </a:rPr>
              <a:t>Distancia D del test KS (menor es mejor)</a:t>
            </a:r>
          </a:p>
        </c:rich>
      </c:tx>
      <c:layout/>
      <c:overlay val="0"/>
    </c:title>
    <c:autoTitleDeleted val="0"/>
    <c:plotArea>
      <c:layout/>
      <c:barChart>
        <c:barDir val="col"/>
        <c:grouping val="clustered"/>
        <c:varyColors val="0"/>
        <c:ser>
          <c:idx val="0"/>
          <c:order val="0"/>
          <c:tx>
            <c:strRef>
              <c:f>Sheet1!$B$1</c:f>
              <c:strCache>
                <c:ptCount val="1"/>
                <c:pt idx="0">
                  <c:v>Antes de calibrar</c:v>
                </c:pt>
              </c:strCache>
            </c:strRef>
          </c:tx>
          <c:spPr>
            <a:solidFill>
              <a:srgbClr val="9FB0DC"/>
            </a:solidFill>
            <a:effectLst/>
          </c:spPr>
          <c:invertIfNegative val="0"/>
          <c:dLbls>
            <c:numFmt formatCode="0.000" sourceLinked="0"/>
            <c:txPr>
              <a:bodyPr/>
              <a:lstStyle/>
              <a:p>
                <a:pPr>
                  <a:defRPr b="0" i="0" strike="noStrike" sz="1000" u="none">
                    <a:solidFill>
                      <a:srgbClr val="1A1F3C"/>
                    </a:solidFill>
                    <a:latin typeface="+mn-lt"/>
                  </a:defRPr>
                </a:pPr>
              </a:p>
            </c:txPr>
            <c:showLegendKey val="0"/>
            <c:showVal val="1"/>
            <c:showCatName val="0"/>
            <c:showSerName val="0"/>
            <c:showPercent val="0"/>
            <c:showBubbleSize val="0"/>
            <c:showLeaderLines val="0"/>
          </c:dLbls>
          <c:cat>
            <c:multiLvlStrRef>
              <c:f>Sheet1!$A$2:$A$4</c:f>
              <c:multiLvlStrCache>
                <c:ptCount val="3"/>
                <c:lvl>
                  <c:pt idx="0">
                    <c:v>Apertura</c:v>
                  </c:pt>
                  <c:pt idx="1">
                    <c:v>Media jornada</c:v>
                  </c:pt>
                  <c:pt idx="2">
                    <c:v>Cierre</c:v>
                  </c:pt>
                </c:lvl>
              </c:multiLvlStrCache>
            </c:multiLvlStrRef>
          </c:cat>
          <c:val>
            <c:numRef>
              <c:f>Sheet1!$B$2:$B$4</c:f>
              <c:numCache>
                <c:formatCode>General</c:formatCode>
                <c:ptCount val="3"/>
                <c:pt idx="0">
                  <c:v>0.324</c:v>
                </c:pt>
                <c:pt idx="1">
                  <c:v>0.279</c:v>
                </c:pt>
                <c:pt idx="2">
                  <c:v>0.275</c:v>
                </c:pt>
              </c:numCache>
            </c:numRef>
          </c:val>
        </c:ser>
        <c:ser>
          <c:idx val="1"/>
          <c:order val="1"/>
          <c:tx>
            <c:strRef>
              <c:f>Sheet1!$C$1</c:f>
              <c:strCache>
                <c:ptCount val="1"/>
                <c:pt idx="0">
                  <c:v>Calibrado</c:v>
                </c:pt>
              </c:strCache>
            </c:strRef>
          </c:tx>
          <c:spPr>
            <a:solidFill>
              <a:srgbClr val="1E2761"/>
            </a:solidFill>
            <a:effectLst/>
          </c:spPr>
          <c:invertIfNegative val="0"/>
          <c:dLbls>
            <c:numFmt formatCode="0.000" sourceLinked="0"/>
            <c:txPr>
              <a:bodyPr/>
              <a:lstStyle/>
              <a:p>
                <a:pPr>
                  <a:defRPr b="0" i="0" strike="noStrike" sz="1000" u="none">
                    <a:solidFill>
                      <a:srgbClr val="1A1F3C"/>
                    </a:solidFill>
                    <a:latin typeface="+mn-lt"/>
                  </a:defRPr>
                </a:pPr>
              </a:p>
            </c:txPr>
            <c:showLegendKey val="0"/>
            <c:showVal val="1"/>
            <c:showCatName val="0"/>
            <c:showSerName val="0"/>
            <c:showPercent val="0"/>
            <c:showBubbleSize val="0"/>
            <c:showLeaderLines val="0"/>
          </c:dLbls>
          <c:cat>
            <c:multiLvlStrRef>
              <c:f>Sheet1!$A$2:$A$4</c:f>
              <c:multiLvlStrCache>
                <c:ptCount val="3"/>
                <c:lvl>
                  <c:pt idx="0">
                    <c:v>Apertura</c:v>
                  </c:pt>
                  <c:pt idx="1">
                    <c:v>Media jornada</c:v>
                  </c:pt>
                  <c:pt idx="2">
                    <c:v>Cierre</c:v>
                  </c:pt>
                </c:lvl>
              </c:multiLvlStrCache>
            </c:multiLvlStrRef>
          </c:cat>
          <c:val>
            <c:numRef>
              <c:f>Sheet1!$C$2:$C$4</c:f>
              <c:numCache>
                <c:formatCode>General</c:formatCode>
                <c:ptCount val="3"/>
                <c:pt idx="0">
                  <c:v>0.073</c:v>
                </c:pt>
                <c:pt idx="1">
                  <c:v>0.098</c:v>
                </c:pt>
                <c:pt idx="2">
                  <c:v>0.066</c:v>
                </c:pt>
              </c:numCache>
            </c:numRef>
          </c:val>
        </c:ser>
        <c:dLbls>
          <c:numFmt formatCode="0.000" sourceLinked="0"/>
          <c:txPr>
            <a:bodyPr/>
            <a:lstStyle/>
            <a:p>
              <a:pPr>
                <a:defRPr b="0" i="0" strike="noStrike" sz="1000" u="none">
                  <a:solidFill>
                    <a:srgbClr val="1A1F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F3C"/>
                </a:solidFill>
                <a:latin typeface="+mn-lt"/>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6350" cap="flat">
              <a:solidFill>
                <a:srgbClr val="E3E8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F3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F3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F3C"/>
                </a:solidFill>
                <a:latin typeface="+mn-lt"/>
              </a:defRPr>
            </a:pPr>
            <a:r>
              <a:rPr sz="1200" b="0" i="0" u="none" strike="noStrike">
                <a:solidFill>
                  <a:srgbClr val="1A1F3C"/>
                </a:solidFill>
                <a:latin typeface="+mn-lt"/>
              </a:rPr>
              <a:t>IS medio, 10 meta-órdenes (pesos)</a:t>
            </a:r>
          </a:p>
        </c:rich>
      </c:tx>
      <c:layout/>
      <c:overlay val="0"/>
    </c:title>
    <c:autoTitleDeleted val="0"/>
    <c:plotArea>
      <c:layout/>
      <c:barChart>
        <c:barDir val="col"/>
        <c:grouping val="clustered"/>
        <c:varyColors val="0"/>
        <c:ser>
          <c:idx val="0"/>
          <c:order val="0"/>
          <c:tx>
            <c:strRef>
              <c:f>Sheet1!$B$1</c:f>
              <c:strCache>
                <c:ptCount val="1"/>
                <c:pt idx="0">
                  <c:v>Implementation Shortfall medio (pesos)</c:v>
                </c:pt>
              </c:strCache>
            </c:strRef>
          </c:tx>
          <c:spPr>
            <a:solidFill>
              <a:srgbClr val="1E2761"/>
            </a:solidFill>
            <a:effectLst/>
          </c:spPr>
          <c:invertIfNegative val="0"/>
          <c:dLbls>
            <c:numFmt formatCode="#,##0" sourceLinked="0"/>
            <c:txPr>
              <a:bodyPr/>
              <a:lstStyle/>
              <a:p>
                <a:pPr>
                  <a:defRPr b="0" i="0" strike="noStrike" sz="1100" u="none">
                    <a:solidFill>
                      <a:srgbClr val="1A1F3C"/>
                    </a:solidFill>
                    <a:latin typeface="+mn-lt"/>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9FB0DC"/>
              </a:solidFill>
              <a:effectLst/>
            </c:spPr>
          </c:dPt>
          <c:cat>
            <c:multiLvlStrRef>
              <c:f>Sheet1!$A$2:$A$3</c:f>
              <c:multiLvlStrCache>
                <c:ptCount val="2"/>
                <c:lvl>
                  <c:pt idx="0">
                    <c:v>TWAP</c:v>
                  </c:pt>
                  <c:pt idx="1">
                    <c:v>VWAP</c:v>
                  </c:pt>
                </c:lvl>
              </c:multiLvlStrCache>
            </c:multiLvlStrRef>
          </c:cat>
          <c:val>
            <c:numRef>
              <c:f>Sheet1!$B$2:$B$3</c:f>
              <c:numCache>
                <c:formatCode>General</c:formatCode>
                <c:ptCount val="2"/>
                <c:pt idx="0">
                  <c:v>36932</c:v>
                </c:pt>
                <c:pt idx="1">
                  <c:v>35569</c:v>
                </c:pt>
              </c:numCache>
            </c:numRef>
          </c:val>
        </c:ser>
        <c:dLbls>
          <c:numFmt formatCode="#,##0" sourceLinked="0"/>
          <c:txPr>
            <a:bodyPr/>
            <a:lstStyle/>
            <a:p>
              <a:pPr>
                <a:defRPr b="0" i="0" strike="noStrike" sz="1100" u="none">
                  <a:solidFill>
                    <a:srgbClr val="1A1F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F3C"/>
                </a:solidFill>
                <a:latin typeface="+mn-lt"/>
              </a:defRPr>
            </a:pPr>
            <a:endParaRPr lang="en-US"/>
          </a:p>
        </c:txPr>
        <c:crossAx val="2094734552"/>
        <c:crosses val="autoZero"/>
        <c:auto val="1"/>
        <c:lblAlgn val="ctr"/>
        <c:noMultiLvlLbl val="1"/>
      </c:catAx>
      <c:valAx>
        <c:axId val="2094734552"/>
        <c:scaling>
          <c:orientation val="minMax"/>
          <c:max val="45000"/>
          <c:min val="0"/>
        </c:scaling>
        <c:delete val="0"/>
        <c:axPos val="l"/>
        <c:majorGridlines>
          <c:spPr>
            <a:ln w="6350" cap="flat">
              <a:solidFill>
                <a:srgbClr val="E3E8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F3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GRUPAL. Cómo usar este PPT para estudiar: cada diapositiva tiene un guion en las notas con (1) qué decir, (2) datos clave y (3) preguntas probables. Duración sugerida: 15 a 20 minutos.
Apertura (30 segundos): "Presentamos el avance del Título II hasta el cierre del Sprint 4. Vamos a mostrar qué se hizo, para qué se hizo y quién lo hizo, siguiendo el plan de hitos y sprints del Título I."
Antecedentes: el proyecto es de tres integrantes: Mauricio Reynoso (redes y PPO), Benjamín Farias (datos y calibración) y Paolo Sepúlveda (arquitectura del entorno, validación y benchmarks). La profesora guía es Ana Rosa Moya Beltrán.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Y PARA QUÉ. Slippage es la diferencia entre el precio que esperamos al decidir una compra y el precio promedio que realmente pagamos al ejecutarla. En una orden grande, cada parte que compramos mueve el precio y la siguiente sale más cara. En el IPSA esto importa porque el libro de órdenes es de liquidez fina.
La propuesta (Título I, sección 4.2): una jerarquía de agentes. El MAESTRO trabaja cada 30 minutos: decide qué fracción del inventario restante asignar al siguiente tramo y en cuántos minutos ejecutarla. Los EJECUTORES (uno por tramo horario: apertura, media jornada y cierre) trabajan cada 30 segundos y eligen tipo de orden, volumen y nivel de precio. Ambos aprenden con PPO (Proximal Policy Optimization), un algoritmo de aprendizaje por refuerzo estable.
Para medir el éxito usamos el Implementation Shortfall: (precio promedio ejecutado menos precio de referencia) por cantidad. Se compara con TWAP (reparto uniforme en el tiempo) y VWAP (reparto proporcional al volumen histórico). La hipótesis es una reducción de al menos 10% con significancia estadística.
Como no se puede experimentar en el mercado real, todo ocurre en un simulador (ABIDES-Gym de JP Morgan y un simulador propio de Poisson) calibrado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Título I (sección 10.2) definió cuatro hitos para el primer semestre (H1 a H4: estado del arte, arquitectura de IA, diseño del simulador y defensa) y cuatro para el segundo (H5 a H8). Esos hitos se tradujeron en nueve sprints de dos semanas con metodología Scrum.
H5, Construcción del entorno de simulación (sprints 1 y 2, 17 agosto a 11 septiembre): simulador y datos históricos. Completado.
H6, Desarrollo y entrenamiento de agentes (sprints 3, 4 y 5, 14 septiembre a 23 octubre): redes, PPO, recompensas e integración. Los sprints 3 y 4 están cerrados; el 5 termina este viernes 23 de octubre.
H7, Validación y pruebas de desempeño (sprints 6 y 7, 26 octubre a 20 noviembre): ajuste de hiperparámetros y comparación estadística con TWAP y VWAP.
H8, Memoria y examen de título (sprints 8 y 9, 23 noviembre a 18 diciembre).
Hoy presentamos los sprints 1 a 4, es decir, todo H5 y la primera parte de H6.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LA CARTA GANTT. Cada fila es un hito del Título I (H5 a H8) y cada barra es un sprint de dos semanas. Los rombos rojos marcan el cierre del hito (11 sep, 23 oct, 20 nov y 18 dic). La línea punteada es hoy, 22 de octubre.
Azul oscuro: sprints cerrados (1, 2, 3 y 4). Ámbar: sprint 5, en curso, que termina el viernes 23 (integración CTDE, ciclo de entrenamiento, meta-órdenes y primer entrenamiento). Gris: sprints pendientes (6 y 7 de validación; 8 y 9 de memoria y defensa).
Mensaje: el proyecto va al día con el plan. El primer semestre (H1 a H4) cubrió el Título I.
Si preguntan por el avance en horas: el plan de Título II suma 604 horas; hay 216 cerradas (sprints 3 y 4 completos más los benchmarks adelantados), alrededor de 36%, mientras que el tiempo transcurrido desde el sprint 3 es cercano a 40%. Las horas del sprint 5 se suman al cerrarlo.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1: ALISTAMIENTO. Objetivo: dejar listo el terreno para construir.
1.1.1 Planificación (equipo): el plan de Título II quedó en un Excel con 9 sprints y 604 horas: Mauricio 196, Benjamín 188, Paolo 196 y 24 de equipo.
1.1.2 Entorno y repositorio (Mauricio): repositorio en GitHub, flujo de ramas por tarea y pull requests. Permite que los tres trabajen en paralelo y que todo cambio quede registrado.
1.1.3 Descarga de datos (Benjamín): velas OHLCV de 5 minutos de las 30 acciones del IPSA con yfinance. Importante: la fuente solo entrega 60 días en esa resolución, por eso el pipeline trabaja con "snapshots" fechados (el principal es el del 23 de agosto de 2026).
1.1.4 Vectores de estado (Paolo): se definió formalmente qué observa cada agente. El Maestro observa 7 variables (inventario restante, hora, número de decisiones, volatilidad, volumen promedio, desbalance del libro y tramo) y cada Ejecutor 27 (3 privadas, 5 niveles de precio y volumen por lado del libro, spread, desbalance, tasa de órdenes y precio medio). Se dejaron en archivos JSON (SM_schema.json y SE_schema.json) para que el código lea las dimensiones desde ahí. Un dato: el esquema inicial decía 26 variables; al contarlas se corrigió a 27 y el código calcula la dimensión desde la lista.
Para qué: sin datos, sin repositorio y sin un contrato de estado y acción, no se puede construir el simulador ni las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2: PIPELINE DE DATOS Y ENTORNO. Objetivo: tener datos limpios y comprobar que el simulador funciona.
1.2.1 Limpieza (Benjamín): se filtra la sesión de 09:30 a 15:55, cada día se reindexa a 78 velas, las velas sin transacción se imputan y quedan marcadas (is_imputed), y la vela de las 16:00 (subasta de cierre) se fusiona con la de 15:55. Se normaliza con MinMax por ticker, conservando las columnas en unidades reales. Resultado del snapshot de agosto: 30 tickers, 60 días, 4.680 velas por ticker; 15 tickers de cobertura alta (tier A) y 15 de baja (tier B). FALABELLA tiene 92,9% de cobertura.
1.2.2 Variables del Maestro (Benjamín): volatilidad (desviación móvil de 6 velas), volumen promedio móvil y tramo.
1.2.3 y 1.2.4 (Mauricio): ABIDES-Gym es difícil de instalar (repositorio archivado, exige Python 3.9, gym 0.18 y numpy 1.22). Se documentó una receta que funciona en Google Colab y se congelaron las versiones.
1.2.5 Arquitectura (Paolo): documento de diseño con tres capas: coordinación (Maestro), ejecución (tres Ejecutores) y simulación. Un episodio es una jornada y se repite: reset, el Maestro decide, se envía el mensaje ASIGNAR al Ejecutor del tramo, el Ejecutor opera y devuelve REPORTE, se avanza el reloj 30 minutos. Conviven tres escalas de tiempo: velas de 5 minutos, decisiones del Maestro cada 30 minutos y del Ejecutor cada 30 segundos.
Para qué: los datos alimentan la calibración; ABIDES-Gym es el simulador final; y el diseño evita contradicciones al implementar.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REDES ACTOR-CRÍTICO, POISSON Y ESPACIOS. Objetivo: construir las piezas que el algoritmo de aprendizaje va a usar.
2.1.1 Red del Maestro (Mauricio): Actor-Crítico con un tronco compartido de dos capas de 256 neuronas y dos cabezas: el actor entrega 40 logits (10 fracciones por 4 ventanas) y el crítico un valor. Desviación documentada respecto del Excel (que pedía 64 neuronas, Xavier y Dropout): se usaron 256 y una sola cabeza discreta.
2.1.2 Redes de los Ejecutores (Benjamín responsable; fábrica make_hierarchy): tres redes, una por tramo, con 27 entradas y 240 salidas. Es totalmente discreta en vez de híbrida; quedó documentada y ratificada en la revisión del cierre.
2.1.3 Calibración de Poisson (Paolo y Benjamín): la llegada de órdenes se modela con tres intensidades por paso de 30 segundos: λ+ (compras), λ− (ventas) y θ (cancelaciones), estimadas por cada ticker y tramo. Con esos parámetros se construyó un simulador de libro de 5 niveles por lado. Verificación: comprar 8.000 acciones consumiendo 2.000 a $5.800, 5.500 a $5.810 y 500 a $5.820 da un precio promedio de $5.808,125, igual al ejemplo del Título I. Límite: el test KS rechaza en los 90 pares ticker-tramo; por eso se usa como intensidad de entrada y como entorno de prueba, no como generador final.
2.1.4 Espacios Gymnasium (Paolo): el Maestro tiene Discrete(40) y el Ejecutor MultiDiscrete([3, 10, 8]) = 240 acciones; las funciones decode_flat y encode_flat traducen el índice que produce la red al formato del entorno. Los rangos se cargan desde los esquemas JSON.
Para qué: las redes necesitan entradas y salidas bien definidas y un entorno estándar donde jugar.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QUÉ: contrastar con datos reales lo que el Título I anticipaba. Se caracterizó el mercado por tramo sobre los 30 tickers (140.400 observaciones) con el snapshot de septiembre. Como no hay libro de órdenes real de Nivel 2, el spread se aproxima con el rango máximo-mínimo de cada vela.
Hallazgo: el patrón no es en "U" sino decreciente (forma de "L"): el spread es mayor en la apertura, no en la media jornada; la volatilidad decrece y no repunta en el cierre; el volumen crece hacia el cierre. Dos análisis independientes (esta caracterización y la calibración de Poisson, que usa otro snapshot y otra metodología) llegan a la misma conclusión.
Consecuencia para el proyecto: es una hipótesis para el entrenamiento (un agente eficiente podría asignar menos volumen donde el spread es mayor), no un resultado. Quién: Paolo, con apoyo de la calibración de Benjamín.
Si preguntan por la limitación: sin Nivel 2 el spread es un proxy; podría haber parte de artefacto.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4, PRIMERA PARTE: ALGORITMO Y RECOMPENSAS.
2.2.1 PPO (Mauricio): implementación de la función objetivo recortada L_CLIP, ventajas con GAE, pérdida del crítico y bonificación de entropía; deja un CSV por actualización (pérdidas, entropía, KL) y puntos de control. Paolo ajustó que torch se importe solo al usarlo y que las semillas sean reproducibles.
2.2.2 Recompensa del Maestro (Mauricio): R_M = menos el costo total menos λ por el inventario no ejecutado al cierre. Se probaron λ de 0,01 a 1,0 en 100 simulaciones. Con λ bajo conviene dejar acciones sin comprar; con λ alto la penalización domina y desestabiliza al crítico. Con λ = 0,05 la penalización equivale a 1,06 veces el costo. Es una calibración por escala, provisional: se revalida cuando el Maestro tenga entrenamiento real.
2.2.3 Recompensa de los Ejecutores (Benjamín y Paolo): R_E = (precio medio menos precio de ejecución) por cantidad, menos β por varianza del precio por cantidad. Benjamín definió la varianza como causal (solo usa precios pasados) y normalizada, y calculó β* (0,0618 en ABIDES). Paolo hizo la fase 2: entrenó un Ejecutor con PPO durante 300 episodios por valor de β y lo evaluó con 30 semillas. Solo con 0,1 por β* se completa el 95% de la orden: β = 0,0061796.
2.3.4 Benchmarks (Paolo, adelantado del sprint 5 porque no dependía de otras tareas).
Para qué: sin una recompensa bien escalada el agente no aprende lo que queremos.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4, SEGUNDA PARTE: EL SIMULADOR.
2.2.4 Calibración de rmsc04 (Benjamín): rmsc04 es la configuración de referencia de ABIDES-Gym (1.000 agentes de ruido, 102 de valor, 12 de momentum y 2 creadores de mercado), pensada para una acción genérica de 1.000 dólares. Se ajustó con FALABELLA: nivel de precio, volatilidad del valor fundamental por tramo (corrigiendo un error de unidades del oráculo) y, por búsqueda en grilla, los parámetros del creador de mercado y la actividad. Se validó con 30 semillas nuevas por tramo. Resultado: volatilidad dentro del 10% del objetivo en los tres tramos.
Extensión a COPEC y ECL (Paolo): al calibrar con menos agentes de ruido aparecieron corridas desbocadas; el diagnóstico mostró que los 12 agentes de momentum por defecto desestabilizaban el mercado. Con 3 agentes de momentum (la misma proporción que FALABELLA) hubo 0 de 30 corridas desbocadas en los tres tramos.
2.2.5 Validación formal (Paolo): criterios fijados antes de ver los datos; ver la siguiente diapositiva.
Para qué: los resultados del entrenamiento solo se pueden interpretar si se sabe cuánto se parece el simulador al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CLAVE DE LA VALIDACIÓN (tarea 2.2.5, Paolo). Se compararon los retornos de 5 minutos simulados (30 semillas por tramo) con los reales de FALABELLA, antes y después de calibrar. El estadístico D del KS es la mayor distancia entre las dos distribuciones: antes 0,28 a 0,32; después 0,07 a 0,10. Es decir, la calibración acerca el simulador entre 3 y 4 veces.
Veredicto formal: con el criterio literal del plan (todos los p mayores que 0,05) el simulador calibrado NO es válido, porque el KS crudo rechaza en los tres tramos (por muy poco en apertura y cierre, con D/D crítico de 1,10 y 1,03; con claridad en media jornada, 1,75). Pero la escala de los retornos coincide (desvío simulado/real entre 0,89 y 0,98, tamaño de efecto g de Hedges trivial) y el patrón entre tramos también.
Límites: el KS con miles de retornos agrupados detecta diferencias pequeñas, por eso se reportan también el tamaño del efecto y D/D crítico; el volumen por vela simulado es 49%, 22% y 5% mayor que el real; el spread simulado (0,17 bps, un tick) queda mucho bajo los proxies reales (4 a 35 bps).
Qué significa para la tesis: el costo absoluto en el simulador queda subestimado, pero la comparación entre estrategias bajo las mismas condiciones sigue siendo informativa. Es una tarea "hecha con límite": se ejecutó, se midió y el límite quedó escrito con su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RESULTADOS DE LA RECOMPENSA Y LOS BENCHMARKS.
Elección de β (Benjamín calculó β*, Paolo hizo la fase 2 con PPO). Se entrenó un Ejecutor en ABIDES calibrado, tramo de apertura, 300 episodios por valor, y se evaluó con 30 semillas nuevas. Slippage: control (β=0) 5,12 bps con 97% de la orden completada; 0,1×β* 4,71 bps con 100%; 0,3×β* 5,77 bps con solo 34%; 1×β* no ejecuta nada. Explicación: el término de riesgo se cobra sobre lo ejecutado, así que con β alto no operar sale gratis y la red aprende a no operar. La regla de selección se fijó antes de ver los datos (cumplir 95% de la orden y menor slippage): β = 0,0061796. Con la fórmula del Título I el riesgo solo puede pesar poco. Se dejó una regla de vigilancia: si en el entrenamiento inicial del sprint 5 el cumplimiento baja de 95%, se pasa a cobrar el riesgo sobre el inventario pendiente, opción ya implementada. β es provisional (solo apertura, una semilla de red).
Benchmarks TWAP y VWAP (Paolo, adelantados). TWAP reparte la orden en 13 partes iguales (7,7% por periodo); VWAP la reparte según el volumen histórico por tramo (5,9% por periodo de apertura, 6,8% media jornada, 10,4% cierre). Ambos usan órdenes de mercado dentro de cada periodo, sobre el mismo Ejecutor y con las mismas métricas que usará el sistema. Se corrieron 10 meta-órdenes de 5.000 acciones de FALABELLA con 10 semillas. IS medio: TWAP 36.932 pesos, VWAP 35.569. VWAP es mejor en las 10 corridas, Wilcoxon p = 0,00195 (el mínimo con 10 pares). Conclusión: VWAP es el benchmark más exigente y es contra él que el sistema deberá demostrar la reducción 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(según el acta de cierre de los sprints 1 a 4, 19 de octubre). De 19 tareas: 10 cumplen su criterio (Hecho); 6 quedaron "hechas con límite demostrado" (2.1.1, 2.1.2, 2.2.2, 2.2.3, 2.2.4 y 2.2.5): se ejecutaron y se midieron, pero el resultado no alcanza el criterio ideal del plan o hay una desviación de diseño, y el límite quedó escrito con su causa; y 3 entregables menores (guía de contribución, prueba de concepto de ABIDES y lista de dependencias) que se cerraron en el pull request de cierre.
Avance en horas: el plan de Título II suma 604 horas; hay 216 cerradas (sprint 3: 104, sprint 4: 96 y benchmarks adelantados: 16), cerca de 36%. El tiempo transcurrido desde el inicio del sprint 3 es cercano a 40%; las horas del sprint 5 se suman al cierre del sprint 23 de octubre.
Calidad: 263 pruebas automáticas al 19 de octubre (255 pasan y 8 se omiten porque requieren archivos de mercado o ABIDES que solo existen en el entorno donde se generaron). 25 integraciones a la rama principal entre agosto y octubre (registro histórico elaborado por Mauricio).
Mensaje: la infraestructura completa para entrenar y evaluar el sistema está lista: datos, espacios, redes, PPO, orquestador, simulador calibrado, recompensas calibradas y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DE TRABAJO. Mauricio Reynoso (MR): entorno y repositorio, guía de Colab, prueba de concepto de ABIDES-Gym y dependencias, red del Maestro, PPO con L_CLIP y GAE y calibración de λ.
Benjamín Farias (BF): descarga de datos OHLCV, pipeline de limpieza y variables del Maestro, calibración de Poisson por tramo y su robustez, redes de los Ejecutores, recompensa de los Ejecutores (varianza causal normalizada y barrido de β), calibración de rmsc04 con 30 semillas, grilla de actividad baja y revisión formal del cierre del sprint 4.
Paolo Sepúlveda (PS): vectores de estado, arquitectura del entorno, espacios Gymnasium y simulador de Poisson, sistema de registro y análisis, validación formal con 30 semillas (FALABELLA, COPEC y ECL), fase 2 de la elección de β, benchmarks TWAP y VWAP, sondeo de megashocks, calibración de COPEC y ECL y acta de cierre de los sprints 1 a 4.
Las tareas compartidas (2.1.3, 2.2.3 y 2.2.4) se hicieron en equipo y cada pull request pasó por revisión antes de integrarse a la rama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Alcance: el simulador calibrado aproxima la escala de los retornos y el patrón entre tramos, pero no reproduce exactamente su distribución, y tiene un spread bajo y un volumen alto en la apertura. Por eso las conclusiones del proyecto se leerán como diferencias entre estrategias bajo las mismas condiciones simuladas. λ y β son provisionales y se revalidan al entrenar.
Lo que viene: Sprint 5 (12 a 23 de octubre): integración CTDE (comunicación Maestro-Ejecutores), ciclo de entrenamiento, meta-órdenes oficiales y primer entrenamiento de validación. Sprint 6 (26 octubre a 6 noviembre): ajuste de hiperparámetros, evaluación por escenario de liquidez y monitoreo de métricas. Sprint 7 (9 a 20 noviembre): 90 corridas de evaluación (3 niveles de liquidez, 3 tamaños, 10 semillas) y comparación estadística con TWAP y VWAP. Sprints 8 y 9: redacción de la memoria y defensa ante la comisión.
Frase de cierre sugerida: "Al cierre del Sprint 4 el proyecto cuenta con la infraestructura completa para entrenar y evaluar el sistema, con sus límites medidos y documentados. Gracias."
Preguntas probables y respuestas cortas:
- ¿Por qué un Maestro y tres Ejecutores? Separa la planificación (cuánto y cuándo) de la ejecución táctica (cómo), y cada tramo horario tiene liquidez distinta.
- ¿Por qué PPO? Es estable y simple de entrenar con acciones discretas.
- ¿Por qué dos simuladores? ABIDES-Gym es el entorno final, pero es difícil de instalar y lento; el de Poisson permite probar localmente.
- ¿Qué significa hecho con límite? Se ejecutó y se midió; el resultado no alcanza el criterio ideal y el límite queda escrito con su causa.
- ¿Cuándo sabremos si el sistema supera a VWAP? Con las 90 corridas del Sprint 7.
- ¿Usaron herramientas de IA? Sí, se usó Claude Code como apoyo de programación y redacción, y está declarado en la documentación del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3716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640080" y="2880360"/>
            <a:ext cx="7863840" cy="91440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828032"/>
            <a:ext cx="7498080" cy="228600"/>
          </a:xfrm>
          <a:prstGeom prst="rect">
            <a:avLst/>
          </a:prstGeom>
          <a:noFill/>
          <a:ln/>
        </p:spPr>
        <p:txBody>
          <a:bodyPr wrap="square" lIns="0" tIns="0" rIns="0" bIns="0" rtlCol="0" anchor="ctr"/>
          <a:lstStyle/>
          <a:p>
            <a:pPr indent="0" marL="0">
              <a:buNone/>
            </a:pPr>
            <a:r>
              <a:rPr lang="en-US" sz="900" dirty="0">
                <a:solidFill>
                  <a:schemeClr val="accent2"/>
                </a:solidFill>
                <a:latin typeface="Calibri" pitchFamily="34" charset="0"/>
                <a:ea typeface="Calibri" pitchFamily="34" charset="-122"/>
                <a:cs typeface="Calibri" pitchFamily="34" charset="-120"/>
              </a:rPr>
              <a:t>Título II · Coordinación de Agentes para la Mitigación del Slippage (IPSA) · UTEM</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371600"/>
          </a:xfrm>
          <a:prstGeom prst="rect">
            <a:avLst/>
          </a:prstGeom>
          <a:noFill/>
          <a:ln/>
        </p:spPr>
        <p:txBody>
          <a:bodyPr wrap="square"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Coordinación de Agentes para la Mitigación del Slippage en el IPSA</a:t>
            </a:r>
            <a:endParaRPr lang="en-US" sz="3400" dirty="0"/>
          </a:p>
        </p:txBody>
      </p:sp>
      <p:sp>
        <p:nvSpPr>
          <p:cNvPr id="3" name="Text 0"/>
          <p:cNvSpPr/>
          <p:nvPr>
            <p:ph idx="101" type="body" hasCustomPrompt="1"/>
          </p:nvPr>
        </p:nvSpPr>
        <p:spPr>
          <a:xfrm>
            <a:off x="640080" y="2880360"/>
            <a:ext cx="7863840" cy="914400"/>
          </a:xfrm>
          <a:prstGeom prst="rect">
            <a:avLst/>
          </a:prstGeom>
          <a:noFill/>
          <a:ln/>
        </p:spPr>
        <p:txBody>
          <a:bodyPr wrap="square" rtlCol="0" anchor="t"/>
          <a:lstStyle/>
          <a:p>
            <a:pPr algn="l" indent="0" marL="0">
              <a:buNone/>
            </a:pPr>
            <a:r>
              <a:rPr lang="en-US" sz="1800" b="1" dirty="0">
                <a:solidFill>
                  <a:schemeClr val="bg2"/>
                </a:solidFill>
                <a:latin typeface="Calibri" pitchFamily="34" charset="0"/>
                <a:ea typeface="Calibri" pitchFamily="34" charset="-122"/>
                <a:cs typeface="Calibri" pitchFamily="34" charset="-120"/>
              </a:rPr>
              <a:t>Trabajo de Título II: avance hasta el cierre del Sprint 4</a:t>
            </a:r>
            <a:endParaRPr lang="en-US" sz="1800" dirty="0"/>
          </a:p>
          <a:p>
            <a:pPr algn="l" indent="0" marL="0">
              <a:buNone/>
            </a:pPr>
            <a:r>
              <a:rPr lang="en-US" sz="1800" dirty="0">
                <a:solidFill>
                  <a:schemeClr val="bg2"/>
                </a:solidFill>
                <a:latin typeface="Calibri" pitchFamily="34" charset="0"/>
                <a:ea typeface="Calibri" pitchFamily="34" charset="-122"/>
                <a:cs typeface="Calibri" pitchFamily="34" charset="-120"/>
              </a:rPr>
              <a:t>Mauricio Reynoso · Benjamín Farias · Paolo Sepúlveda</a:t>
            </a:r>
            <a:endParaRPr lang="en-US" sz="1800" dirty="0"/>
          </a:p>
          <a:p>
            <a:pPr algn="l" indent="0" marL="0">
              <a:buNone/>
            </a:pPr>
            <a:r>
              <a:rPr lang="en-US" sz="1800" dirty="0">
                <a:solidFill>
                  <a:schemeClr val="bg2"/>
                </a:solidFill>
                <a:latin typeface="Calibri" pitchFamily="34" charset="0"/>
                <a:ea typeface="Calibri" pitchFamily="34" charset="-122"/>
                <a:cs typeface="Calibri" pitchFamily="34" charset="-120"/>
              </a:rPr>
              <a:t>Profesora guía: Ana Rosa Moya Beltrán · UTEM, 22 de octubre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proyecto: qué y para qué</a:t>
            </a:r>
            <a:endParaRPr lang="en-US" sz="3000" dirty="0"/>
          </a:p>
        </p:txBody>
      </p:sp>
      <p:sp>
        <p:nvSpPr>
          <p:cNvPr id="3" name="problema_fondo"/>
          <p:cNvSpPr/>
          <p:nvPr/>
        </p:nvSpPr>
        <p:spPr>
          <a:xfrm>
            <a:off x="457200" y="1097280"/>
            <a:ext cx="2697480" cy="1600200"/>
          </a:xfrm>
          <a:prstGeom prst="roundRect">
            <a:avLst>
              <a:gd name="adj" fmla="val 4571"/>
            </a:avLst>
          </a:prstGeom>
          <a:solidFill>
            <a:srgbClr val="EEF2FA"/>
          </a:solidFill>
          <a:ln w="12700">
            <a:solidFill>
              <a:srgbClr val="EEF2FA"/>
            </a:solidFill>
            <a:prstDash val="solid"/>
          </a:ln>
        </p:spPr>
      </p:sp>
      <p:sp>
        <p:nvSpPr>
          <p:cNvPr id="4" name="problema_titulo"/>
          <p:cNvSpPr txBox="1"/>
          <p:nvPr/>
        </p:nvSpPr>
        <p:spPr>
          <a:xfrm>
            <a:off x="594360" y="1170432"/>
            <a:ext cx="242316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El problema</a:t>
            </a:r>
            <a:endParaRPr lang="en-US" sz="1500" dirty="0"/>
          </a:p>
        </p:txBody>
      </p:sp>
      <p:sp>
        <p:nvSpPr>
          <p:cNvPr id="5" name="problema_texto"/>
          <p:cNvSpPr txBox="1"/>
          <p:nvPr/>
        </p:nvSpPr>
        <p:spPr>
          <a:xfrm>
            <a:off x="594360" y="1554480"/>
            <a:ext cx="242316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Al ejecutar una orden grande en el IPSA, el precio se mueve en contra (slippage) y encarece la operación.</a:t>
            </a:r>
            <a:endParaRPr lang="en-US" sz="1300" dirty="0"/>
          </a:p>
        </p:txBody>
      </p:sp>
      <p:sp>
        <p:nvSpPr>
          <p:cNvPr id="6" name="solucion_fondo"/>
          <p:cNvSpPr/>
          <p:nvPr/>
        </p:nvSpPr>
        <p:spPr>
          <a:xfrm>
            <a:off x="457200" y="2834640"/>
            <a:ext cx="2697480" cy="1783080"/>
          </a:xfrm>
          <a:prstGeom prst="roundRect">
            <a:avLst>
              <a:gd name="adj" fmla="val 4103"/>
            </a:avLst>
          </a:prstGeom>
          <a:solidFill>
            <a:srgbClr val="EEF2FA"/>
          </a:solidFill>
          <a:ln w="12700">
            <a:solidFill>
              <a:srgbClr val="EEF2FA"/>
            </a:solidFill>
            <a:prstDash val="solid"/>
          </a:ln>
        </p:spPr>
      </p:sp>
      <p:sp>
        <p:nvSpPr>
          <p:cNvPr id="7" name="solucion_titulo"/>
          <p:cNvSpPr txBox="1"/>
          <p:nvPr/>
        </p:nvSpPr>
        <p:spPr>
          <a:xfrm>
            <a:off x="594360" y="2907792"/>
            <a:ext cx="242316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La solución</a:t>
            </a:r>
            <a:endParaRPr lang="en-US" sz="1500" dirty="0"/>
          </a:p>
        </p:txBody>
      </p:sp>
      <p:sp>
        <p:nvSpPr>
          <p:cNvPr id="8" name="solucion_texto"/>
          <p:cNvSpPr txBox="1"/>
          <p:nvPr/>
        </p:nvSpPr>
        <p:spPr>
          <a:xfrm>
            <a:off x="594360" y="3291840"/>
            <a:ext cx="2423160" cy="12344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Dos niveles de agentes: un Maestro decide cuánto y cuándo; tres Ejecutores (apertura, media jornada, cierre) deciden cómo operar. Aprenden con PPO.</a:t>
            </a:r>
            <a:endParaRPr lang="en-US" sz="1300" dirty="0"/>
          </a:p>
        </p:txBody>
      </p:sp>
      <p:pic>
        <p:nvPicPr>
          <p:cNvPr id="9" name="arquitectura" descr="Arquitectura: Maestro, Ejecutores y mercado simulado">    </p:cNvPr>
          <p:cNvPicPr>
            <a:picLocks noChangeAspect="1"/>
          </p:cNvPicPr>
          <p:nvPr/>
        </p:nvPicPr>
        <p:blipFill>
          <a:blip r:embed="rId1"/>
          <a:stretch>
            <a:fillRect/>
          </a:stretch>
        </p:blipFill>
        <p:spPr>
          <a:xfrm>
            <a:off x="4001624" y="1097280"/>
            <a:ext cx="3975391" cy="2331720"/>
          </a:xfrm>
          <a:prstGeom prst="rect">
            <a:avLst/>
          </a:prstGeom>
        </p:spPr>
      </p:pic>
      <p:sp>
        <p:nvSpPr>
          <p:cNvPr id="10" name="objetivo_general"/>
          <p:cNvSpPr txBox="1"/>
          <p:nvPr/>
        </p:nvSpPr>
        <p:spPr>
          <a:xfrm>
            <a:off x="3291840" y="3520440"/>
            <a:ext cx="5394960" cy="5029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Objetivo: reducir el Implementation Shortfall frente a TWAP y VWAP, en un simulador calibrado con datos reales.</a:t>
            </a:r>
            <a:endParaRPr lang="en-US" sz="1400" dirty="0"/>
          </a:p>
        </p:txBody>
      </p:sp>
      <p:sp>
        <p:nvSpPr>
          <p:cNvPr id="11" name="objetivos_especificos"/>
          <p:cNvSpPr txBox="1"/>
          <p:nvPr/>
        </p:nvSpPr>
        <p:spPr>
          <a:xfrm>
            <a:off x="3291840" y="4023360"/>
            <a:ext cx="5394960" cy="594360"/>
          </a:xfrm>
          <a:prstGeom prst="rect">
            <a:avLst/>
          </a:prstGeom>
          <a:noFill/>
          <a:ln/>
        </p:spPr>
        <p:txBody>
          <a:bodyPr wrap="square" lIns="0" tIns="0" rIns="0" bIns="0" rtlCol="0" anchor="t"/>
          <a:lstStyle/>
          <a:p>
            <a:pPr indent="0" marL="0">
              <a:buNone/>
            </a:pPr>
            <a:r>
              <a:rPr lang="en-US" sz="1200" dirty="0">
                <a:solidFill>
                  <a:schemeClr val="accent2"/>
                </a:solidFill>
                <a:latin typeface="Calibri" pitchFamily="34" charset="0"/>
                <a:ea typeface="Calibri" pitchFamily="34" charset="-122"/>
                <a:cs typeface="Calibri" pitchFamily="34" charset="-120"/>
              </a:rPr>
              <a:t>Los cuatro objetivos específicos: simulador de alta fidelidad · arquitectura jerárquica con PPO · recompensa que minimice el IS · evaluación frente a TWAP y VWAP.</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Hitos del plan del Título I</a:t>
            </a:r>
            <a:endParaRPr lang="en-US" sz="3000" dirty="0"/>
          </a:p>
        </p:txBody>
      </p:sp>
      <p:graphicFrame>
        <p:nvGraphicFramePr>
          <p:cNvPr id="4" name="tabla_hitos"/>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3566160"/>
                <a:gridCol w="1371600"/>
                <a:gridCol w="777240"/>
                <a:gridCol w="1783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pide el Título I</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Periodo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Sprints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Estado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548640">
                <a:tc>
                  <a:txBody>
                    <a:bodyPr/>
                    <a:lstStyle/>
                    <a:p>
                      <a:pPr indent="0" marL="0">
                        <a:buNone/>
                      </a:pPr>
                      <a:r>
                        <a:rPr lang="en-US" sz="1100" b="1" dirty="0">
                          <a:solidFill>
                            <a:srgbClr val="1A1F3C"/>
                          </a:solidFill>
                          <a:latin typeface="Calibri" pitchFamily="34" charset="0"/>
                          <a:ea typeface="Calibri" pitchFamily="34" charset="-122"/>
                          <a:cs typeface="Calibri" pitchFamily="34" charset="-120"/>
                        </a:rPr>
                        <a:t>H1–H4</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Título I: estado del arte, arquitectura de IA, diseño del simulador y defensa</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1.er semestre 2026</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Completado</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2E8B6E"/>
                    </a:solidFill>
                  </a:tcPr>
                </a:tc>
              </a:tr>
              <a:tr h="548640">
                <a:tc>
                  <a:txBody>
                    <a:bodyPr/>
                    <a:lstStyle/>
                    <a:p>
                      <a:pPr indent="0" marL="0">
                        <a:buNone/>
                      </a:pPr>
                      <a:r>
                        <a:rPr lang="en-US" sz="1100" b="1" dirty="0">
                          <a:solidFill>
                            <a:srgbClr val="1A1F3C"/>
                          </a:solidFill>
                          <a:latin typeface="Calibri" pitchFamily="34" charset="0"/>
                          <a:ea typeface="Calibri" pitchFamily="34" charset="-122"/>
                          <a:cs typeface="Calibri" pitchFamily="34" charset="-120"/>
                        </a:rPr>
                        <a:t>H5</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Construcción del entorno de simulación: simulador en Python y datos históricos</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17 ago – 11 sep</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1 y 2</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Completado</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2E8B6E"/>
                    </a:solidFill>
                  </a:tcPr>
                </a:tc>
              </a:tr>
              <a:tr h="640080">
                <a:tc>
                  <a:txBody>
                    <a:bodyPr/>
                    <a:lstStyle/>
                    <a:p>
                      <a:pPr indent="0" marL="0">
                        <a:buNone/>
                      </a:pPr>
                      <a:r>
                        <a:rPr lang="en-US" sz="1100" b="1" dirty="0">
                          <a:solidFill>
                            <a:srgbClr val="1A1F3C"/>
                          </a:solidFill>
                          <a:latin typeface="Calibri" pitchFamily="34" charset="0"/>
                          <a:ea typeface="Calibri" pitchFamily="34" charset="-122"/>
                          <a:cs typeface="Calibri" pitchFamily="34" charset="-120"/>
                        </a:rPr>
                        <a:t>H6</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Desarrollo y entrenamiento de agentes: redes, PPO, recompensas, integración</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14 sep – 23 oct</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3, 4 y 5</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C"/>
                          </a:solidFill>
                          <a:latin typeface="Calibri" pitchFamily="34" charset="0"/>
                          <a:ea typeface="Calibri" pitchFamily="34" charset="-122"/>
                          <a:cs typeface="Calibri" pitchFamily="34" charset="-120"/>
                        </a:rPr>
                        <a:t>Sprints 3–4 listos; 5 en curso</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E8A33D"/>
                    </a:solidFill>
                  </a:tcPr>
                </a:tc>
              </a:tr>
              <a:tr h="640080">
                <a:tc>
                  <a:txBody>
                    <a:bodyPr/>
                    <a:lstStyle/>
                    <a:p>
                      <a:pPr indent="0" marL="0">
                        <a:buNone/>
                      </a:pPr>
                      <a:r>
                        <a:rPr lang="en-US" sz="1100" b="1" dirty="0">
                          <a:solidFill>
                            <a:srgbClr val="1A1F3C"/>
                          </a:solidFill>
                          <a:latin typeface="Calibri" pitchFamily="34" charset="0"/>
                          <a:ea typeface="Calibri" pitchFamily="34" charset="-122"/>
                          <a:cs typeface="Calibri" pitchFamily="34" charset="-120"/>
                        </a:rPr>
                        <a:t>H7</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Validación y pruebas de desempeño: ajuste de hiperparámetros y comparación con TWAP y VWAP</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26 oct – 20 nov</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6 y 7</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algn="ctr" indent="0" marL="0">
                        <a:buNone/>
                      </a:pPr>
                      <a:r>
                        <a:rPr lang="en-US" sz="1100" b="1" dirty="0">
                          <a:solidFill>
                            <a:srgbClr val="1A1F3C"/>
                          </a:solidFill>
                          <a:latin typeface="Calibri" pitchFamily="34" charset="0"/>
                          <a:ea typeface="Calibri" pitchFamily="34" charset="-122"/>
                          <a:cs typeface="Calibri" pitchFamily="34" charset="-120"/>
                        </a:rPr>
                        <a:t>Pendiente</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D6DDEE"/>
                    </a:solidFill>
                  </a:tcPr>
                </a:tc>
              </a:tr>
              <a:tr h="548640">
                <a:tc>
                  <a:txBody>
                    <a:bodyPr/>
                    <a:lstStyle/>
                    <a:p>
                      <a:pPr indent="0" marL="0">
                        <a:buNone/>
                      </a:pPr>
                      <a:r>
                        <a:rPr lang="en-US" sz="1100" b="1" dirty="0">
                          <a:solidFill>
                            <a:srgbClr val="1A1F3C"/>
                          </a:solidFill>
                          <a:latin typeface="Calibri" pitchFamily="34" charset="0"/>
                          <a:ea typeface="Calibri" pitchFamily="34" charset="-122"/>
                          <a:cs typeface="Calibri" pitchFamily="34" charset="-120"/>
                        </a:rPr>
                        <a:t>H8</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Memoria y examen de título: informe final y defensa</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23 nov – 18 dic</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100" dirty="0">
                          <a:solidFill>
                            <a:srgbClr val="1A1F3C"/>
                          </a:solidFill>
                          <a:latin typeface="Calibri" pitchFamily="34" charset="0"/>
                          <a:ea typeface="Calibri" pitchFamily="34" charset="-122"/>
                          <a:cs typeface="Calibri" pitchFamily="34" charset="-120"/>
                        </a:rPr>
                        <a:t>8 y 9</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C"/>
                          </a:solidFill>
                          <a:latin typeface="Calibri" pitchFamily="34" charset="0"/>
                          <a:ea typeface="Calibri" pitchFamily="34" charset="-122"/>
                          <a:cs typeface="Calibri" pitchFamily="34" charset="-120"/>
                        </a:rPr>
                        <a:t>Pendiente</a:t>
                      </a:r>
                      <a:endParaRPr lang="en-US" sz="11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D6DDEE"/>
                    </a:solidFill>
                  </a:tcPr>
                </a:tc>
              </a:tr>
            </a:tbl>
          </a:graphicData>
        </a:graphic>
      </p:graphicFrame>
      <p:sp>
        <p:nvSpPr>
          <p:cNvPr id="4" name="nota_scrum"/>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200" dirty="0">
                <a:solidFill>
                  <a:schemeClr val="accent2"/>
                </a:solidFill>
                <a:latin typeface="Calibri" pitchFamily="34" charset="0"/>
                <a:ea typeface="Calibri" pitchFamily="34" charset="-122"/>
                <a:cs typeface="Calibri" pitchFamily="34" charset="-120"/>
              </a:rPr>
              <a:t>Metodología Scrum (Título I, sección 10.1): sprints de 2 semanas, sprint planning y revisión al cierre de cada uno.</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Carta Gantt: hitos y sprints</a:t>
            </a:r>
            <a:endParaRPr lang="en-US" sz="3000" dirty="0"/>
          </a:p>
        </p:txBody>
      </p:sp>
      <p:sp>
        <p:nvSpPr>
          <p:cNvPr id="3" name="mes_Ago"/>
          <p:cNvSpPr/>
          <p:nvPr/>
        </p:nvSpPr>
        <p:spPr>
          <a:xfrm>
            <a:off x="2331720" y="1097280"/>
            <a:ext cx="769018" cy="274320"/>
          </a:xfrm>
          <a:prstGeom prst="rect">
            <a:avLst/>
          </a:prstGeom>
          <a:solidFill>
            <a:srgbClr val="EEF2FA"/>
          </a:solidFill>
          <a:ln w="9525">
            <a:solidFill>
              <a:srgbClr val="FFFFFF"/>
            </a:solidFill>
            <a:prstDash val="solid"/>
          </a:ln>
        </p:spPr>
      </p:sp>
      <p:sp>
        <p:nvSpPr>
          <p:cNvPr id="4" name="mes_txt_Ago"/>
          <p:cNvSpPr txBox="1"/>
          <p:nvPr/>
        </p:nvSpPr>
        <p:spPr>
          <a:xfrm>
            <a:off x="2331720" y="1097280"/>
            <a:ext cx="769018" cy="274320"/>
          </a:xfrm>
          <a:prstGeom prst="rect">
            <a:avLst/>
          </a:prstGeom>
          <a:noFill/>
          <a:ln/>
        </p:spPr>
        <p:txBody>
          <a:bodyPr wrap="square" lIns="0" tIns="0" rIns="0" bIns="0" rtlCol="0" anchor="ctr"/>
          <a:lstStyle/>
          <a:p>
            <a:pPr algn="ctr" indent="0" marL="0">
              <a:buNone/>
            </a:pPr>
            <a:r>
              <a:rPr lang="en-US" sz="1100" b="1" dirty="0">
                <a:solidFill>
                  <a:schemeClr val="tx2"/>
                </a:solidFill>
                <a:latin typeface="Calibri" pitchFamily="34" charset="0"/>
                <a:ea typeface="Calibri" pitchFamily="34" charset="-122"/>
                <a:cs typeface="Calibri" pitchFamily="34" charset="-120"/>
              </a:rPr>
              <a:t>Ago 2026</a:t>
            </a:r>
            <a:endParaRPr lang="en-US" sz="1100" dirty="0"/>
          </a:p>
        </p:txBody>
      </p:sp>
      <p:sp>
        <p:nvSpPr>
          <p:cNvPr id="5" name="mes_Sep"/>
          <p:cNvSpPr/>
          <p:nvPr/>
        </p:nvSpPr>
        <p:spPr>
          <a:xfrm>
            <a:off x="3100738" y="1097280"/>
            <a:ext cx="1535900" cy="274320"/>
          </a:xfrm>
          <a:prstGeom prst="rect">
            <a:avLst/>
          </a:prstGeom>
          <a:solidFill>
            <a:srgbClr val="DDE6F7"/>
          </a:solidFill>
          <a:ln w="9525">
            <a:solidFill>
              <a:srgbClr val="FFFFFF"/>
            </a:solidFill>
            <a:prstDash val="solid"/>
          </a:ln>
        </p:spPr>
      </p:sp>
      <p:sp>
        <p:nvSpPr>
          <p:cNvPr id="6" name="mes_txt_Sep"/>
          <p:cNvSpPr txBox="1"/>
          <p:nvPr/>
        </p:nvSpPr>
        <p:spPr>
          <a:xfrm>
            <a:off x="3100738" y="1097280"/>
            <a:ext cx="1535900" cy="274320"/>
          </a:xfrm>
          <a:prstGeom prst="rect">
            <a:avLst/>
          </a:prstGeom>
          <a:noFill/>
          <a:ln/>
        </p:spPr>
        <p:txBody>
          <a:bodyPr wrap="square" lIns="0" tIns="0" rIns="0" bIns="0" rtlCol="0" anchor="ctr"/>
          <a:lstStyle/>
          <a:p>
            <a:pPr algn="ctr" indent="0" marL="0">
              <a:buNone/>
            </a:pPr>
            <a:r>
              <a:rPr lang="en-US" sz="1100" b="1" dirty="0">
                <a:solidFill>
                  <a:schemeClr val="tx2"/>
                </a:solidFill>
                <a:latin typeface="Calibri" pitchFamily="34" charset="0"/>
                <a:ea typeface="Calibri" pitchFamily="34" charset="-122"/>
                <a:cs typeface="Calibri" pitchFamily="34" charset="-120"/>
              </a:rPr>
              <a:t>Sep 2026</a:t>
            </a:r>
            <a:endParaRPr lang="en-US" sz="1100" dirty="0"/>
          </a:p>
        </p:txBody>
      </p:sp>
      <p:sp>
        <p:nvSpPr>
          <p:cNvPr id="7" name="mes_Oct"/>
          <p:cNvSpPr/>
          <p:nvPr/>
        </p:nvSpPr>
        <p:spPr>
          <a:xfrm>
            <a:off x="4636638" y="1097280"/>
            <a:ext cx="1589304" cy="274320"/>
          </a:xfrm>
          <a:prstGeom prst="rect">
            <a:avLst/>
          </a:prstGeom>
          <a:solidFill>
            <a:srgbClr val="EEF2FA"/>
          </a:solidFill>
          <a:ln w="9525">
            <a:solidFill>
              <a:srgbClr val="FFFFFF"/>
            </a:solidFill>
            <a:prstDash val="solid"/>
          </a:ln>
        </p:spPr>
      </p:sp>
      <p:sp>
        <p:nvSpPr>
          <p:cNvPr id="8" name="mes_txt_Oct"/>
          <p:cNvSpPr txBox="1"/>
          <p:nvPr/>
        </p:nvSpPr>
        <p:spPr>
          <a:xfrm>
            <a:off x="4636638" y="1097280"/>
            <a:ext cx="1589304" cy="274320"/>
          </a:xfrm>
          <a:prstGeom prst="rect">
            <a:avLst/>
          </a:prstGeom>
          <a:noFill/>
          <a:ln/>
        </p:spPr>
        <p:txBody>
          <a:bodyPr wrap="square" lIns="0" tIns="0" rIns="0" bIns="0" rtlCol="0" anchor="ctr"/>
          <a:lstStyle/>
          <a:p>
            <a:pPr algn="ctr" indent="0" marL="0">
              <a:buNone/>
            </a:pPr>
            <a:r>
              <a:rPr lang="en-US" sz="1100" b="1" dirty="0">
                <a:solidFill>
                  <a:schemeClr val="tx2"/>
                </a:solidFill>
                <a:latin typeface="Calibri" pitchFamily="34" charset="0"/>
                <a:ea typeface="Calibri" pitchFamily="34" charset="-122"/>
                <a:cs typeface="Calibri" pitchFamily="34" charset="-120"/>
              </a:rPr>
              <a:t>Oct 2026</a:t>
            </a:r>
            <a:endParaRPr lang="en-US" sz="1100" dirty="0"/>
          </a:p>
        </p:txBody>
      </p:sp>
      <p:sp>
        <p:nvSpPr>
          <p:cNvPr id="9" name="mes_Nov"/>
          <p:cNvSpPr/>
          <p:nvPr/>
        </p:nvSpPr>
        <p:spPr>
          <a:xfrm>
            <a:off x="6225942" y="1097280"/>
            <a:ext cx="1538036" cy="274320"/>
          </a:xfrm>
          <a:prstGeom prst="rect">
            <a:avLst/>
          </a:prstGeom>
          <a:solidFill>
            <a:srgbClr val="DDE6F7"/>
          </a:solidFill>
          <a:ln w="9525">
            <a:solidFill>
              <a:srgbClr val="FFFFFF"/>
            </a:solidFill>
            <a:prstDash val="solid"/>
          </a:ln>
        </p:spPr>
      </p:sp>
      <p:sp>
        <p:nvSpPr>
          <p:cNvPr id="10" name="mes_txt_Nov"/>
          <p:cNvSpPr txBox="1"/>
          <p:nvPr/>
        </p:nvSpPr>
        <p:spPr>
          <a:xfrm>
            <a:off x="6225942" y="1097280"/>
            <a:ext cx="1538036" cy="274320"/>
          </a:xfrm>
          <a:prstGeom prst="rect">
            <a:avLst/>
          </a:prstGeom>
          <a:noFill/>
          <a:ln/>
        </p:spPr>
        <p:txBody>
          <a:bodyPr wrap="square" lIns="0" tIns="0" rIns="0" bIns="0" rtlCol="0" anchor="ctr"/>
          <a:lstStyle/>
          <a:p>
            <a:pPr algn="ctr" indent="0" marL="0">
              <a:buNone/>
            </a:pPr>
            <a:r>
              <a:rPr lang="en-US" sz="1100" b="1" dirty="0">
                <a:solidFill>
                  <a:schemeClr val="tx2"/>
                </a:solidFill>
                <a:latin typeface="Calibri" pitchFamily="34" charset="0"/>
                <a:ea typeface="Calibri" pitchFamily="34" charset="-122"/>
                <a:cs typeface="Calibri" pitchFamily="34" charset="-120"/>
              </a:rPr>
              <a:t>Nov 2026</a:t>
            </a:r>
            <a:endParaRPr lang="en-US" sz="1100" dirty="0"/>
          </a:p>
        </p:txBody>
      </p:sp>
      <p:sp>
        <p:nvSpPr>
          <p:cNvPr id="11" name="mes_Dic"/>
          <p:cNvSpPr/>
          <p:nvPr/>
        </p:nvSpPr>
        <p:spPr>
          <a:xfrm>
            <a:off x="7763978" y="1097280"/>
            <a:ext cx="922822" cy="274320"/>
          </a:xfrm>
          <a:prstGeom prst="rect">
            <a:avLst/>
          </a:prstGeom>
          <a:solidFill>
            <a:srgbClr val="EEF2FA"/>
          </a:solidFill>
          <a:ln w="9525">
            <a:solidFill>
              <a:srgbClr val="FFFFFF"/>
            </a:solidFill>
            <a:prstDash val="solid"/>
          </a:ln>
        </p:spPr>
      </p:sp>
      <p:sp>
        <p:nvSpPr>
          <p:cNvPr id="12" name="mes_txt_Dic"/>
          <p:cNvSpPr txBox="1"/>
          <p:nvPr/>
        </p:nvSpPr>
        <p:spPr>
          <a:xfrm>
            <a:off x="7763978" y="1097280"/>
            <a:ext cx="922822" cy="274320"/>
          </a:xfrm>
          <a:prstGeom prst="rect">
            <a:avLst/>
          </a:prstGeom>
          <a:noFill/>
          <a:ln/>
        </p:spPr>
        <p:txBody>
          <a:bodyPr wrap="square" lIns="0" tIns="0" rIns="0" bIns="0" rtlCol="0" anchor="ctr"/>
          <a:lstStyle/>
          <a:p>
            <a:pPr algn="ctr" indent="0" marL="0">
              <a:buNone/>
            </a:pPr>
            <a:r>
              <a:rPr lang="en-US" sz="1100" b="1" dirty="0">
                <a:solidFill>
                  <a:schemeClr val="tx2"/>
                </a:solidFill>
                <a:latin typeface="Calibri" pitchFamily="34" charset="0"/>
                <a:ea typeface="Calibri" pitchFamily="34" charset="-122"/>
                <a:cs typeface="Calibri" pitchFamily="34" charset="-120"/>
              </a:rPr>
              <a:t>Dic 2026</a:t>
            </a:r>
            <a:endParaRPr lang="en-US" sz="1100" dirty="0"/>
          </a:p>
        </p:txBody>
      </p:sp>
      <p:sp>
        <p:nvSpPr>
          <p:cNvPr id="13" name="fila_0"/>
          <p:cNvSpPr/>
          <p:nvPr/>
        </p:nvSpPr>
        <p:spPr>
          <a:xfrm>
            <a:off x="457200" y="1453896"/>
            <a:ext cx="8229600" cy="621792"/>
          </a:xfrm>
          <a:prstGeom prst="rect">
            <a:avLst/>
          </a:prstGeom>
          <a:solidFill>
            <a:srgbClr val="F7F9FD"/>
          </a:solidFill>
          <a:ln w="12700">
            <a:solidFill>
              <a:srgbClr val="FFFFFF"/>
            </a:solidFill>
            <a:prstDash val="solid"/>
          </a:ln>
        </p:spPr>
      </p:sp>
      <p:sp>
        <p:nvSpPr>
          <p:cNvPr id="14" name="hito_nombre_0"/>
          <p:cNvSpPr txBox="1"/>
          <p:nvPr/>
        </p:nvSpPr>
        <p:spPr>
          <a:xfrm>
            <a:off x="502920" y="1527048"/>
            <a:ext cx="17830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H5 Entorno de simulación</a:t>
            </a:r>
            <a:endParaRPr lang="en-US" sz="1200" dirty="0"/>
          </a:p>
        </p:txBody>
      </p:sp>
      <p:sp>
        <p:nvSpPr>
          <p:cNvPr id="15" name="barra_S1"/>
          <p:cNvSpPr/>
          <p:nvPr/>
        </p:nvSpPr>
        <p:spPr>
          <a:xfrm>
            <a:off x="2331720" y="1545336"/>
            <a:ext cx="615214" cy="384048"/>
          </a:xfrm>
          <a:prstGeom prst="roundRect">
            <a:avLst>
              <a:gd name="adj" fmla="val 11905"/>
            </a:avLst>
          </a:prstGeom>
          <a:solidFill>
            <a:srgbClr val="1E2761"/>
          </a:solidFill>
          <a:ln w="12700">
            <a:solidFill>
              <a:srgbClr val="1E2761"/>
            </a:solidFill>
            <a:prstDash val="solid"/>
          </a:ln>
        </p:spPr>
      </p:sp>
      <p:sp>
        <p:nvSpPr>
          <p:cNvPr id="16" name="barra_txt_S1"/>
          <p:cNvSpPr txBox="1"/>
          <p:nvPr/>
        </p:nvSpPr>
        <p:spPr>
          <a:xfrm>
            <a:off x="2331720" y="1545336"/>
            <a:ext cx="61521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S1</a:t>
            </a:r>
            <a:endParaRPr lang="en-US" sz="1200" dirty="0"/>
          </a:p>
        </p:txBody>
      </p:sp>
      <p:sp>
        <p:nvSpPr>
          <p:cNvPr id="17" name="barra_S2"/>
          <p:cNvSpPr/>
          <p:nvPr/>
        </p:nvSpPr>
        <p:spPr>
          <a:xfrm>
            <a:off x="3049470" y="1545336"/>
            <a:ext cx="613078" cy="384048"/>
          </a:xfrm>
          <a:prstGeom prst="roundRect">
            <a:avLst>
              <a:gd name="adj" fmla="val 11905"/>
            </a:avLst>
          </a:prstGeom>
          <a:solidFill>
            <a:srgbClr val="1E2761"/>
          </a:solidFill>
          <a:ln w="12700">
            <a:solidFill>
              <a:srgbClr val="1E2761"/>
            </a:solidFill>
            <a:prstDash val="solid"/>
          </a:ln>
        </p:spPr>
      </p:sp>
      <p:sp>
        <p:nvSpPr>
          <p:cNvPr id="18" name="barra_txt_S2"/>
          <p:cNvSpPr txBox="1"/>
          <p:nvPr/>
        </p:nvSpPr>
        <p:spPr>
          <a:xfrm>
            <a:off x="3049470" y="1545336"/>
            <a:ext cx="61307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S2</a:t>
            </a:r>
            <a:endParaRPr lang="en-US" sz="1200" dirty="0"/>
          </a:p>
        </p:txBody>
      </p:sp>
      <p:sp>
        <p:nvSpPr>
          <p:cNvPr id="19" name="hito_0"/>
          <p:cNvSpPr/>
          <p:nvPr/>
        </p:nvSpPr>
        <p:spPr>
          <a:xfrm>
            <a:off x="3547273" y="1984248"/>
            <a:ext cx="164592" cy="164592"/>
          </a:xfrm>
          <a:prstGeom prst="diamond">
            <a:avLst/>
          </a:prstGeom>
          <a:solidFill>
            <a:srgbClr val="C8553D"/>
          </a:solidFill>
          <a:ln w="12700">
            <a:solidFill>
              <a:srgbClr val="C8553D"/>
            </a:solidFill>
            <a:prstDash val="solid"/>
          </a:ln>
        </p:spPr>
      </p:sp>
      <p:sp>
        <p:nvSpPr>
          <p:cNvPr id="20" name="hito_fecha_0"/>
          <p:cNvSpPr txBox="1"/>
          <p:nvPr/>
        </p:nvSpPr>
        <p:spPr>
          <a:xfrm>
            <a:off x="2678593" y="1965960"/>
            <a:ext cx="749808" cy="201168"/>
          </a:xfrm>
          <a:prstGeom prst="rect">
            <a:avLst/>
          </a:prstGeom>
          <a:noFill/>
          <a:ln/>
        </p:spPr>
        <p:txBody>
          <a:bodyPr wrap="square" lIns="0" tIns="0" rIns="0" bIns="0" rtlCol="0" anchor="ctr"/>
          <a:lstStyle/>
          <a:p>
            <a:pPr algn="r" indent="0" marL="0">
              <a:buNone/>
            </a:pPr>
            <a:r>
              <a:rPr lang="en-US" sz="1000" dirty="0">
                <a:solidFill>
                  <a:schemeClr val="accent2"/>
                </a:solidFill>
                <a:latin typeface="Calibri" pitchFamily="34" charset="0"/>
                <a:ea typeface="Calibri" pitchFamily="34" charset="-122"/>
                <a:cs typeface="Calibri" pitchFamily="34" charset="-120"/>
              </a:rPr>
              <a:t>11 sep</a:t>
            </a:r>
            <a:endParaRPr lang="en-US" sz="1000" dirty="0"/>
          </a:p>
        </p:txBody>
      </p:sp>
      <p:sp>
        <p:nvSpPr>
          <p:cNvPr id="21" name="fila_1"/>
          <p:cNvSpPr/>
          <p:nvPr/>
        </p:nvSpPr>
        <p:spPr>
          <a:xfrm>
            <a:off x="457200" y="2112264"/>
            <a:ext cx="8229600" cy="621792"/>
          </a:xfrm>
          <a:prstGeom prst="rect">
            <a:avLst/>
          </a:prstGeom>
          <a:solidFill>
            <a:srgbClr val="FFFFFF"/>
          </a:solidFill>
          <a:ln w="12700">
            <a:solidFill>
              <a:srgbClr val="FFFFFF"/>
            </a:solidFill>
            <a:prstDash val="solid"/>
          </a:ln>
        </p:spPr>
      </p:sp>
      <p:sp>
        <p:nvSpPr>
          <p:cNvPr id="22" name="hito_nombre_1"/>
          <p:cNvSpPr txBox="1"/>
          <p:nvPr/>
        </p:nvSpPr>
        <p:spPr>
          <a:xfrm>
            <a:off x="502920" y="2185416"/>
            <a:ext cx="17830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H6 Agentes y entrenamiento</a:t>
            </a:r>
            <a:endParaRPr lang="en-US" sz="1200" dirty="0"/>
          </a:p>
        </p:txBody>
      </p:sp>
      <p:sp>
        <p:nvSpPr>
          <p:cNvPr id="23" name="barra_S3"/>
          <p:cNvSpPr/>
          <p:nvPr/>
        </p:nvSpPr>
        <p:spPr>
          <a:xfrm>
            <a:off x="3765084" y="2203704"/>
            <a:ext cx="615214" cy="384048"/>
          </a:xfrm>
          <a:prstGeom prst="roundRect">
            <a:avLst>
              <a:gd name="adj" fmla="val 11905"/>
            </a:avLst>
          </a:prstGeom>
          <a:solidFill>
            <a:srgbClr val="1E2761"/>
          </a:solidFill>
          <a:ln w="12700">
            <a:solidFill>
              <a:srgbClr val="1E2761"/>
            </a:solidFill>
            <a:prstDash val="solid"/>
          </a:ln>
        </p:spPr>
      </p:sp>
      <p:sp>
        <p:nvSpPr>
          <p:cNvPr id="24" name="barra_txt_S3"/>
          <p:cNvSpPr txBox="1"/>
          <p:nvPr/>
        </p:nvSpPr>
        <p:spPr>
          <a:xfrm>
            <a:off x="3765084" y="2203704"/>
            <a:ext cx="61521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S3</a:t>
            </a:r>
            <a:endParaRPr lang="en-US" sz="1200" dirty="0"/>
          </a:p>
        </p:txBody>
      </p:sp>
      <p:sp>
        <p:nvSpPr>
          <p:cNvPr id="25" name="barra_S4"/>
          <p:cNvSpPr/>
          <p:nvPr/>
        </p:nvSpPr>
        <p:spPr>
          <a:xfrm>
            <a:off x="4482834" y="2203704"/>
            <a:ext cx="615214" cy="384048"/>
          </a:xfrm>
          <a:prstGeom prst="roundRect">
            <a:avLst>
              <a:gd name="adj" fmla="val 11905"/>
            </a:avLst>
          </a:prstGeom>
          <a:solidFill>
            <a:srgbClr val="1E2761"/>
          </a:solidFill>
          <a:ln w="12700">
            <a:solidFill>
              <a:srgbClr val="1E2761"/>
            </a:solidFill>
            <a:prstDash val="solid"/>
          </a:ln>
        </p:spPr>
      </p:sp>
      <p:sp>
        <p:nvSpPr>
          <p:cNvPr id="26" name="barra_txt_S4"/>
          <p:cNvSpPr txBox="1"/>
          <p:nvPr/>
        </p:nvSpPr>
        <p:spPr>
          <a:xfrm>
            <a:off x="4482834" y="2203704"/>
            <a:ext cx="61521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S4</a:t>
            </a:r>
            <a:endParaRPr lang="en-US" sz="1200" dirty="0"/>
          </a:p>
        </p:txBody>
      </p:sp>
      <p:sp>
        <p:nvSpPr>
          <p:cNvPr id="27" name="barra_S5"/>
          <p:cNvSpPr/>
          <p:nvPr/>
        </p:nvSpPr>
        <p:spPr>
          <a:xfrm>
            <a:off x="5200585" y="2203704"/>
            <a:ext cx="615214" cy="384048"/>
          </a:xfrm>
          <a:prstGeom prst="roundRect">
            <a:avLst>
              <a:gd name="adj" fmla="val 11905"/>
            </a:avLst>
          </a:prstGeom>
          <a:solidFill>
            <a:srgbClr val="E8A33D"/>
          </a:solidFill>
          <a:ln w="12700">
            <a:solidFill>
              <a:srgbClr val="E8A33D"/>
            </a:solidFill>
            <a:prstDash val="solid"/>
          </a:ln>
        </p:spPr>
      </p:sp>
      <p:sp>
        <p:nvSpPr>
          <p:cNvPr id="28" name="barra_txt_S5"/>
          <p:cNvSpPr txBox="1"/>
          <p:nvPr/>
        </p:nvSpPr>
        <p:spPr>
          <a:xfrm>
            <a:off x="5200585" y="2203704"/>
            <a:ext cx="615214" cy="384048"/>
          </a:xfrm>
          <a:prstGeom prst="rect">
            <a:avLst/>
          </a:prstGeom>
          <a:noFill/>
          <a:ln/>
        </p:spPr>
        <p:txBody>
          <a:bodyPr wrap="square" lIns="0" tIns="0" rIns="0" bIns="0" rtlCol="0" anchor="ctr"/>
          <a:lstStyle/>
          <a:p>
            <a:pPr algn="ctr" indent="0" marL="0">
              <a:buNone/>
            </a:pPr>
            <a:r>
              <a:rPr lang="en-US" sz="1200" b="1" dirty="0">
                <a:solidFill>
                  <a:srgbClr val="1A1F3C"/>
                </a:solidFill>
                <a:latin typeface="Calibri" pitchFamily="34" charset="0"/>
                <a:ea typeface="Calibri" pitchFamily="34" charset="-122"/>
                <a:cs typeface="Calibri" pitchFamily="34" charset="-120"/>
              </a:rPr>
              <a:t>S5</a:t>
            </a:r>
            <a:endParaRPr lang="en-US" sz="1200" dirty="0"/>
          </a:p>
        </p:txBody>
      </p:sp>
      <p:sp>
        <p:nvSpPr>
          <p:cNvPr id="29" name="hito_1"/>
          <p:cNvSpPr/>
          <p:nvPr/>
        </p:nvSpPr>
        <p:spPr>
          <a:xfrm>
            <a:off x="5700523" y="2642616"/>
            <a:ext cx="164592" cy="164592"/>
          </a:xfrm>
          <a:prstGeom prst="diamond">
            <a:avLst/>
          </a:prstGeom>
          <a:solidFill>
            <a:srgbClr val="C8553D"/>
          </a:solidFill>
          <a:ln w="12700">
            <a:solidFill>
              <a:srgbClr val="C8553D"/>
            </a:solidFill>
            <a:prstDash val="solid"/>
          </a:ln>
        </p:spPr>
      </p:sp>
      <p:sp>
        <p:nvSpPr>
          <p:cNvPr id="30" name="hito_fecha_1"/>
          <p:cNvSpPr txBox="1"/>
          <p:nvPr/>
        </p:nvSpPr>
        <p:spPr>
          <a:xfrm>
            <a:off x="4831843" y="2624328"/>
            <a:ext cx="749808" cy="201168"/>
          </a:xfrm>
          <a:prstGeom prst="rect">
            <a:avLst/>
          </a:prstGeom>
          <a:noFill/>
          <a:ln/>
        </p:spPr>
        <p:txBody>
          <a:bodyPr wrap="square" lIns="0" tIns="0" rIns="0" bIns="0" rtlCol="0" anchor="ctr"/>
          <a:lstStyle/>
          <a:p>
            <a:pPr algn="r" indent="0" marL="0">
              <a:buNone/>
            </a:pPr>
            <a:r>
              <a:rPr lang="en-US" sz="1000" dirty="0">
                <a:solidFill>
                  <a:schemeClr val="accent2"/>
                </a:solidFill>
                <a:latin typeface="Calibri" pitchFamily="34" charset="0"/>
                <a:ea typeface="Calibri" pitchFamily="34" charset="-122"/>
                <a:cs typeface="Calibri" pitchFamily="34" charset="-120"/>
              </a:rPr>
              <a:t>23 oct</a:t>
            </a:r>
            <a:endParaRPr lang="en-US" sz="1000" dirty="0"/>
          </a:p>
        </p:txBody>
      </p:sp>
      <p:sp>
        <p:nvSpPr>
          <p:cNvPr id="31" name="fila_2"/>
          <p:cNvSpPr/>
          <p:nvPr/>
        </p:nvSpPr>
        <p:spPr>
          <a:xfrm>
            <a:off x="457200" y="2770632"/>
            <a:ext cx="8229600" cy="621792"/>
          </a:xfrm>
          <a:prstGeom prst="rect">
            <a:avLst/>
          </a:prstGeom>
          <a:solidFill>
            <a:srgbClr val="F7F9FD"/>
          </a:solidFill>
          <a:ln w="12700">
            <a:solidFill>
              <a:srgbClr val="FFFFFF"/>
            </a:solidFill>
            <a:prstDash val="solid"/>
          </a:ln>
        </p:spPr>
      </p:sp>
      <p:sp>
        <p:nvSpPr>
          <p:cNvPr id="32" name="hito_nombre_2"/>
          <p:cNvSpPr txBox="1"/>
          <p:nvPr/>
        </p:nvSpPr>
        <p:spPr>
          <a:xfrm>
            <a:off x="502920" y="2843784"/>
            <a:ext cx="17830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H7 Validación y desempeño</a:t>
            </a:r>
            <a:endParaRPr lang="en-US" sz="1200" dirty="0"/>
          </a:p>
        </p:txBody>
      </p:sp>
      <p:sp>
        <p:nvSpPr>
          <p:cNvPr id="33" name="barra_S6"/>
          <p:cNvSpPr/>
          <p:nvPr/>
        </p:nvSpPr>
        <p:spPr>
          <a:xfrm>
            <a:off x="5918335" y="2862072"/>
            <a:ext cx="615214" cy="384048"/>
          </a:xfrm>
          <a:prstGeom prst="roundRect">
            <a:avLst>
              <a:gd name="adj" fmla="val 11905"/>
            </a:avLst>
          </a:prstGeom>
          <a:solidFill>
            <a:srgbClr val="C9D3EA"/>
          </a:solidFill>
          <a:ln w="12700">
            <a:solidFill>
              <a:srgbClr val="C9D3EA"/>
            </a:solidFill>
            <a:prstDash val="solid"/>
          </a:ln>
        </p:spPr>
      </p:sp>
      <p:sp>
        <p:nvSpPr>
          <p:cNvPr id="34" name="barra_txt_S6"/>
          <p:cNvSpPr txBox="1"/>
          <p:nvPr/>
        </p:nvSpPr>
        <p:spPr>
          <a:xfrm>
            <a:off x="5918335" y="2862072"/>
            <a:ext cx="615214" cy="384048"/>
          </a:xfrm>
          <a:prstGeom prst="rect">
            <a:avLst/>
          </a:prstGeom>
          <a:noFill/>
          <a:ln/>
        </p:spPr>
        <p:txBody>
          <a:bodyPr wrap="square" lIns="0" tIns="0" rIns="0" bIns="0" rtlCol="0" anchor="ctr"/>
          <a:lstStyle/>
          <a:p>
            <a:pPr algn="ctr" indent="0" marL="0">
              <a:buNone/>
            </a:pPr>
            <a:r>
              <a:rPr lang="en-US" sz="1200" b="1" dirty="0">
                <a:solidFill>
                  <a:srgbClr val="1A1F3C"/>
                </a:solidFill>
                <a:latin typeface="Calibri" pitchFamily="34" charset="0"/>
                <a:ea typeface="Calibri" pitchFamily="34" charset="-122"/>
                <a:cs typeface="Calibri" pitchFamily="34" charset="-120"/>
              </a:rPr>
              <a:t>S6</a:t>
            </a:r>
            <a:endParaRPr lang="en-US" sz="1200" dirty="0"/>
          </a:p>
        </p:txBody>
      </p:sp>
      <p:sp>
        <p:nvSpPr>
          <p:cNvPr id="35" name="barra_S7"/>
          <p:cNvSpPr/>
          <p:nvPr/>
        </p:nvSpPr>
        <p:spPr>
          <a:xfrm>
            <a:off x="6636085" y="2862072"/>
            <a:ext cx="615214" cy="384048"/>
          </a:xfrm>
          <a:prstGeom prst="roundRect">
            <a:avLst>
              <a:gd name="adj" fmla="val 11905"/>
            </a:avLst>
          </a:prstGeom>
          <a:solidFill>
            <a:srgbClr val="C9D3EA"/>
          </a:solidFill>
          <a:ln w="12700">
            <a:solidFill>
              <a:srgbClr val="C9D3EA"/>
            </a:solidFill>
            <a:prstDash val="solid"/>
          </a:ln>
        </p:spPr>
      </p:sp>
      <p:sp>
        <p:nvSpPr>
          <p:cNvPr id="36" name="barra_txt_S7"/>
          <p:cNvSpPr txBox="1"/>
          <p:nvPr/>
        </p:nvSpPr>
        <p:spPr>
          <a:xfrm>
            <a:off x="6636085" y="2862072"/>
            <a:ext cx="615214" cy="384048"/>
          </a:xfrm>
          <a:prstGeom prst="rect">
            <a:avLst/>
          </a:prstGeom>
          <a:noFill/>
          <a:ln/>
        </p:spPr>
        <p:txBody>
          <a:bodyPr wrap="square" lIns="0" tIns="0" rIns="0" bIns="0" rtlCol="0" anchor="ctr"/>
          <a:lstStyle/>
          <a:p>
            <a:pPr algn="ctr" indent="0" marL="0">
              <a:buNone/>
            </a:pPr>
            <a:r>
              <a:rPr lang="en-US" sz="1200" b="1" dirty="0">
                <a:solidFill>
                  <a:srgbClr val="1A1F3C"/>
                </a:solidFill>
                <a:latin typeface="Calibri" pitchFamily="34" charset="0"/>
                <a:ea typeface="Calibri" pitchFamily="34" charset="-122"/>
                <a:cs typeface="Calibri" pitchFamily="34" charset="-120"/>
              </a:rPr>
              <a:t>S7</a:t>
            </a:r>
            <a:endParaRPr lang="en-US" sz="1200" dirty="0"/>
          </a:p>
        </p:txBody>
      </p:sp>
      <p:sp>
        <p:nvSpPr>
          <p:cNvPr id="37" name="hito_2"/>
          <p:cNvSpPr/>
          <p:nvPr/>
        </p:nvSpPr>
        <p:spPr>
          <a:xfrm>
            <a:off x="7136024" y="3300984"/>
            <a:ext cx="164592" cy="164592"/>
          </a:xfrm>
          <a:prstGeom prst="diamond">
            <a:avLst/>
          </a:prstGeom>
          <a:solidFill>
            <a:srgbClr val="C8553D"/>
          </a:solidFill>
          <a:ln w="12700">
            <a:solidFill>
              <a:srgbClr val="C8553D"/>
            </a:solidFill>
            <a:prstDash val="solid"/>
          </a:ln>
        </p:spPr>
      </p:sp>
      <p:sp>
        <p:nvSpPr>
          <p:cNvPr id="38" name="hito_fecha_2"/>
          <p:cNvSpPr txBox="1"/>
          <p:nvPr/>
        </p:nvSpPr>
        <p:spPr>
          <a:xfrm>
            <a:off x="6267344" y="3282696"/>
            <a:ext cx="749808" cy="201168"/>
          </a:xfrm>
          <a:prstGeom prst="rect">
            <a:avLst/>
          </a:prstGeom>
          <a:noFill/>
          <a:ln/>
        </p:spPr>
        <p:txBody>
          <a:bodyPr wrap="square" lIns="0" tIns="0" rIns="0" bIns="0" rtlCol="0" anchor="ctr"/>
          <a:lstStyle/>
          <a:p>
            <a:pPr algn="r" indent="0" marL="0">
              <a:buNone/>
            </a:pPr>
            <a:r>
              <a:rPr lang="en-US" sz="1000" dirty="0">
                <a:solidFill>
                  <a:schemeClr val="accent2"/>
                </a:solidFill>
                <a:latin typeface="Calibri" pitchFamily="34" charset="0"/>
                <a:ea typeface="Calibri" pitchFamily="34" charset="-122"/>
                <a:cs typeface="Calibri" pitchFamily="34" charset="-120"/>
              </a:rPr>
              <a:t>20 nov</a:t>
            </a:r>
            <a:endParaRPr lang="en-US" sz="1000" dirty="0"/>
          </a:p>
        </p:txBody>
      </p:sp>
      <p:sp>
        <p:nvSpPr>
          <p:cNvPr id="39" name="fila_3"/>
          <p:cNvSpPr/>
          <p:nvPr/>
        </p:nvSpPr>
        <p:spPr>
          <a:xfrm>
            <a:off x="457200" y="3429000"/>
            <a:ext cx="8229600" cy="621792"/>
          </a:xfrm>
          <a:prstGeom prst="rect">
            <a:avLst/>
          </a:prstGeom>
          <a:solidFill>
            <a:srgbClr val="FFFFFF"/>
          </a:solidFill>
          <a:ln w="12700">
            <a:solidFill>
              <a:srgbClr val="FFFFFF"/>
            </a:solidFill>
            <a:prstDash val="solid"/>
          </a:ln>
        </p:spPr>
      </p:sp>
      <p:sp>
        <p:nvSpPr>
          <p:cNvPr id="40" name="hito_nombre_3"/>
          <p:cNvSpPr txBox="1"/>
          <p:nvPr/>
        </p:nvSpPr>
        <p:spPr>
          <a:xfrm>
            <a:off x="502920" y="3502152"/>
            <a:ext cx="17830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H8 Memoria y examen</a:t>
            </a:r>
            <a:endParaRPr lang="en-US" sz="1200" dirty="0"/>
          </a:p>
        </p:txBody>
      </p:sp>
      <p:sp>
        <p:nvSpPr>
          <p:cNvPr id="41" name="barra_S8"/>
          <p:cNvSpPr/>
          <p:nvPr/>
        </p:nvSpPr>
        <p:spPr>
          <a:xfrm>
            <a:off x="7353835" y="3520440"/>
            <a:ext cx="615214" cy="384048"/>
          </a:xfrm>
          <a:prstGeom prst="roundRect">
            <a:avLst>
              <a:gd name="adj" fmla="val 11905"/>
            </a:avLst>
          </a:prstGeom>
          <a:solidFill>
            <a:srgbClr val="C9D3EA"/>
          </a:solidFill>
          <a:ln w="12700">
            <a:solidFill>
              <a:srgbClr val="C9D3EA"/>
            </a:solidFill>
            <a:prstDash val="solid"/>
          </a:ln>
        </p:spPr>
      </p:sp>
      <p:sp>
        <p:nvSpPr>
          <p:cNvPr id="42" name="barra_txt_S8"/>
          <p:cNvSpPr txBox="1"/>
          <p:nvPr/>
        </p:nvSpPr>
        <p:spPr>
          <a:xfrm>
            <a:off x="7353835" y="3520440"/>
            <a:ext cx="615214" cy="384048"/>
          </a:xfrm>
          <a:prstGeom prst="rect">
            <a:avLst/>
          </a:prstGeom>
          <a:noFill/>
          <a:ln/>
        </p:spPr>
        <p:txBody>
          <a:bodyPr wrap="square" lIns="0" tIns="0" rIns="0" bIns="0" rtlCol="0" anchor="ctr"/>
          <a:lstStyle/>
          <a:p>
            <a:pPr algn="ctr" indent="0" marL="0">
              <a:buNone/>
            </a:pPr>
            <a:r>
              <a:rPr lang="en-US" sz="1200" b="1" dirty="0">
                <a:solidFill>
                  <a:srgbClr val="1A1F3C"/>
                </a:solidFill>
                <a:latin typeface="Calibri" pitchFamily="34" charset="0"/>
                <a:ea typeface="Calibri" pitchFamily="34" charset="-122"/>
                <a:cs typeface="Calibri" pitchFamily="34" charset="-120"/>
              </a:rPr>
              <a:t>S8</a:t>
            </a:r>
            <a:endParaRPr lang="en-US" sz="1200" dirty="0"/>
          </a:p>
        </p:txBody>
      </p:sp>
      <p:sp>
        <p:nvSpPr>
          <p:cNvPr id="43" name="barra_S9"/>
          <p:cNvSpPr/>
          <p:nvPr/>
        </p:nvSpPr>
        <p:spPr>
          <a:xfrm>
            <a:off x="8071586" y="3520440"/>
            <a:ext cx="615214" cy="384048"/>
          </a:xfrm>
          <a:prstGeom prst="roundRect">
            <a:avLst>
              <a:gd name="adj" fmla="val 11905"/>
            </a:avLst>
          </a:prstGeom>
          <a:solidFill>
            <a:srgbClr val="C9D3EA"/>
          </a:solidFill>
          <a:ln w="12700">
            <a:solidFill>
              <a:srgbClr val="C9D3EA"/>
            </a:solidFill>
            <a:prstDash val="solid"/>
          </a:ln>
        </p:spPr>
      </p:sp>
      <p:sp>
        <p:nvSpPr>
          <p:cNvPr id="44" name="barra_txt_S9"/>
          <p:cNvSpPr txBox="1"/>
          <p:nvPr/>
        </p:nvSpPr>
        <p:spPr>
          <a:xfrm>
            <a:off x="8071586" y="3520440"/>
            <a:ext cx="615214" cy="384048"/>
          </a:xfrm>
          <a:prstGeom prst="rect">
            <a:avLst/>
          </a:prstGeom>
          <a:noFill/>
          <a:ln/>
        </p:spPr>
        <p:txBody>
          <a:bodyPr wrap="square" lIns="0" tIns="0" rIns="0" bIns="0" rtlCol="0" anchor="ctr"/>
          <a:lstStyle/>
          <a:p>
            <a:pPr algn="ctr" indent="0" marL="0">
              <a:buNone/>
            </a:pPr>
            <a:r>
              <a:rPr lang="en-US" sz="1200" b="1" dirty="0">
                <a:solidFill>
                  <a:srgbClr val="1A1F3C"/>
                </a:solidFill>
                <a:latin typeface="Calibri" pitchFamily="34" charset="0"/>
                <a:ea typeface="Calibri" pitchFamily="34" charset="-122"/>
                <a:cs typeface="Calibri" pitchFamily="34" charset="-120"/>
              </a:rPr>
              <a:t>S9</a:t>
            </a:r>
            <a:endParaRPr lang="en-US" sz="1200" dirty="0"/>
          </a:p>
        </p:txBody>
      </p:sp>
      <p:sp>
        <p:nvSpPr>
          <p:cNvPr id="45" name="hito_3"/>
          <p:cNvSpPr/>
          <p:nvPr/>
        </p:nvSpPr>
        <p:spPr>
          <a:xfrm>
            <a:off x="8571524" y="3959352"/>
            <a:ext cx="164592" cy="164592"/>
          </a:xfrm>
          <a:prstGeom prst="diamond">
            <a:avLst/>
          </a:prstGeom>
          <a:solidFill>
            <a:srgbClr val="C8553D"/>
          </a:solidFill>
          <a:ln w="12700">
            <a:solidFill>
              <a:srgbClr val="C8553D"/>
            </a:solidFill>
            <a:prstDash val="solid"/>
          </a:ln>
        </p:spPr>
      </p:sp>
      <p:sp>
        <p:nvSpPr>
          <p:cNvPr id="46" name="hito_fecha_3"/>
          <p:cNvSpPr txBox="1"/>
          <p:nvPr/>
        </p:nvSpPr>
        <p:spPr>
          <a:xfrm>
            <a:off x="7702844" y="3941064"/>
            <a:ext cx="749808" cy="201168"/>
          </a:xfrm>
          <a:prstGeom prst="rect">
            <a:avLst/>
          </a:prstGeom>
          <a:noFill/>
          <a:ln/>
        </p:spPr>
        <p:txBody>
          <a:bodyPr wrap="square" lIns="0" tIns="0" rIns="0" bIns="0" rtlCol="0" anchor="ctr"/>
          <a:lstStyle/>
          <a:p>
            <a:pPr algn="r" indent="0" marL="0">
              <a:buNone/>
            </a:pPr>
            <a:r>
              <a:rPr lang="en-US" sz="1000" dirty="0">
                <a:solidFill>
                  <a:schemeClr val="accent2"/>
                </a:solidFill>
                <a:latin typeface="Calibri" pitchFamily="34" charset="0"/>
                <a:ea typeface="Calibri" pitchFamily="34" charset="-122"/>
                <a:cs typeface="Calibri" pitchFamily="34" charset="-120"/>
              </a:rPr>
              <a:t>18 dic</a:t>
            </a:r>
            <a:endParaRPr lang="en-US" sz="1000" dirty="0"/>
          </a:p>
        </p:txBody>
      </p:sp>
      <p:sp>
        <p:nvSpPr>
          <p:cNvPr id="47" name="linea_hoy"/>
          <p:cNvSpPr/>
          <p:nvPr/>
        </p:nvSpPr>
        <p:spPr>
          <a:xfrm>
            <a:off x="5713263" y="1371600"/>
            <a:ext cx="0" cy="2926080"/>
          </a:xfrm>
          <a:prstGeom prst="line">
            <a:avLst/>
          </a:prstGeom>
          <a:noFill/>
          <a:ln w="15875">
            <a:solidFill>
              <a:srgbClr val="C8553D"/>
            </a:solidFill>
            <a:prstDash val="dash"/>
          </a:ln>
        </p:spPr>
      </p:sp>
      <p:sp>
        <p:nvSpPr>
          <p:cNvPr id="48" name="hoy_texto"/>
          <p:cNvSpPr txBox="1"/>
          <p:nvPr/>
        </p:nvSpPr>
        <p:spPr>
          <a:xfrm>
            <a:off x="5073183" y="4315968"/>
            <a:ext cx="1280160" cy="201168"/>
          </a:xfrm>
          <a:prstGeom prst="rect">
            <a:avLst/>
          </a:prstGeom>
          <a:noFill/>
          <a:ln/>
        </p:spPr>
        <p:txBody>
          <a:bodyPr wrap="square" lIns="0" tIns="0" rIns="0" bIns="0" rtlCol="0" anchor="ctr"/>
          <a:lstStyle/>
          <a:p>
            <a:pPr algn="ctr" indent="0" marL="0">
              <a:buNone/>
            </a:pPr>
            <a:r>
              <a:rPr lang="en-US" sz="1000" b="1" dirty="0">
                <a:solidFill>
                  <a:srgbClr val="C8553D"/>
                </a:solidFill>
                <a:latin typeface="Calibri" pitchFamily="34" charset="0"/>
                <a:ea typeface="Calibri" pitchFamily="34" charset="-122"/>
                <a:cs typeface="Calibri" pitchFamily="34" charset="-120"/>
              </a:rPr>
              <a:t>Hoy · 22 oct</a:t>
            </a:r>
            <a:endParaRPr lang="en-US" sz="1000" dirty="0"/>
          </a:p>
        </p:txBody>
      </p:sp>
      <p:sp>
        <p:nvSpPr>
          <p:cNvPr id="49" name="leyenda_0"/>
          <p:cNvSpPr/>
          <p:nvPr/>
        </p:nvSpPr>
        <p:spPr>
          <a:xfrm>
            <a:off x="502920" y="4572000"/>
            <a:ext cx="256032" cy="164592"/>
          </a:xfrm>
          <a:prstGeom prst="roundRect">
            <a:avLst>
              <a:gd name="adj" fmla="val 16667"/>
            </a:avLst>
          </a:prstGeom>
          <a:solidFill>
            <a:srgbClr val="1E2761"/>
          </a:solidFill>
          <a:ln w="12700">
            <a:solidFill>
              <a:srgbClr val="1E2761"/>
            </a:solidFill>
            <a:prstDash val="solid"/>
          </a:ln>
        </p:spPr>
      </p:sp>
      <p:sp>
        <p:nvSpPr>
          <p:cNvPr id="50" name="leyenda_txt_0"/>
          <p:cNvSpPr txBox="1"/>
          <p:nvPr/>
        </p:nvSpPr>
        <p:spPr>
          <a:xfrm>
            <a:off x="822960" y="4553712"/>
            <a:ext cx="1097280" cy="20116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Completado</a:t>
            </a:r>
            <a:endParaRPr lang="en-US" sz="1000" dirty="0"/>
          </a:p>
        </p:txBody>
      </p:sp>
      <p:sp>
        <p:nvSpPr>
          <p:cNvPr id="51" name="leyenda_1"/>
          <p:cNvSpPr/>
          <p:nvPr/>
        </p:nvSpPr>
        <p:spPr>
          <a:xfrm>
            <a:off x="1920240" y="4572000"/>
            <a:ext cx="256032" cy="164592"/>
          </a:xfrm>
          <a:prstGeom prst="roundRect">
            <a:avLst>
              <a:gd name="adj" fmla="val 16667"/>
            </a:avLst>
          </a:prstGeom>
          <a:solidFill>
            <a:srgbClr val="E8A33D"/>
          </a:solidFill>
          <a:ln w="12700">
            <a:solidFill>
              <a:srgbClr val="E8A33D"/>
            </a:solidFill>
            <a:prstDash val="solid"/>
          </a:ln>
        </p:spPr>
      </p:sp>
      <p:sp>
        <p:nvSpPr>
          <p:cNvPr id="52" name="leyenda_txt_1"/>
          <p:cNvSpPr txBox="1"/>
          <p:nvPr/>
        </p:nvSpPr>
        <p:spPr>
          <a:xfrm>
            <a:off x="2240280" y="4553712"/>
            <a:ext cx="1097280" cy="20116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En curso</a:t>
            </a:r>
            <a:endParaRPr lang="en-US" sz="1000" dirty="0"/>
          </a:p>
        </p:txBody>
      </p:sp>
      <p:sp>
        <p:nvSpPr>
          <p:cNvPr id="53" name="leyenda_2"/>
          <p:cNvSpPr/>
          <p:nvPr/>
        </p:nvSpPr>
        <p:spPr>
          <a:xfrm>
            <a:off x="3337560" y="4572000"/>
            <a:ext cx="256032" cy="164592"/>
          </a:xfrm>
          <a:prstGeom prst="roundRect">
            <a:avLst>
              <a:gd name="adj" fmla="val 16667"/>
            </a:avLst>
          </a:prstGeom>
          <a:solidFill>
            <a:srgbClr val="C9D3EA"/>
          </a:solidFill>
          <a:ln w="12700">
            <a:solidFill>
              <a:srgbClr val="C9D3EA"/>
            </a:solidFill>
            <a:prstDash val="solid"/>
          </a:ln>
        </p:spPr>
      </p:sp>
      <p:sp>
        <p:nvSpPr>
          <p:cNvPr id="54" name="leyenda_txt_2"/>
          <p:cNvSpPr txBox="1"/>
          <p:nvPr/>
        </p:nvSpPr>
        <p:spPr>
          <a:xfrm>
            <a:off x="3657600" y="4553712"/>
            <a:ext cx="1097280" cy="20116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Pendiente</a:t>
            </a:r>
            <a:endParaRPr lang="en-US" sz="1000" dirty="0"/>
          </a:p>
        </p:txBody>
      </p:sp>
      <p:sp>
        <p:nvSpPr>
          <p:cNvPr id="55" name="leyenda_hito"/>
          <p:cNvSpPr/>
          <p:nvPr/>
        </p:nvSpPr>
        <p:spPr>
          <a:xfrm>
            <a:off x="4846320" y="4572000"/>
            <a:ext cx="164592" cy="164592"/>
          </a:xfrm>
          <a:prstGeom prst="diamond">
            <a:avLst/>
          </a:prstGeom>
          <a:solidFill>
            <a:srgbClr val="C8553D"/>
          </a:solidFill>
          <a:ln w="12700">
            <a:solidFill>
              <a:srgbClr val="C8553D"/>
            </a:solidFill>
            <a:prstDash val="solid"/>
          </a:ln>
        </p:spPr>
      </p:sp>
      <p:sp>
        <p:nvSpPr>
          <p:cNvPr id="56" name="leyenda_hito_txt"/>
          <p:cNvSpPr txBox="1"/>
          <p:nvPr/>
        </p:nvSpPr>
        <p:spPr>
          <a:xfrm>
            <a:off x="5074920" y="4553712"/>
            <a:ext cx="1371600" cy="201168"/>
          </a:xfrm>
          <a:prstGeom prst="rect">
            <a:avLst/>
          </a:prstGeom>
          <a:noFill/>
          <a:ln/>
        </p:spPr>
        <p:txBody>
          <a:bodyPr wrap="square" lIns="0" tIns="0" rIns="0" bIns="0" rtlCol="0" anchor="ctr"/>
          <a:lstStyle/>
          <a:p>
            <a:pPr indent="0" marL="0">
              <a:buNone/>
            </a:pPr>
            <a:r>
              <a:rPr lang="en-US" sz="1000" dirty="0">
                <a:solidFill>
                  <a:schemeClr val="tx1"/>
                </a:solidFill>
                <a:latin typeface="Calibri" pitchFamily="34" charset="0"/>
                <a:ea typeface="Calibri" pitchFamily="34" charset="-122"/>
                <a:cs typeface="Calibri" pitchFamily="34" charset="-120"/>
              </a:rPr>
              <a:t>Cierre del hito</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Sprint 1 (17–28 ago): alistamiento</a:t>
            </a:r>
            <a:endParaRPr lang="en-US" sz="3000" dirty="0"/>
          </a:p>
        </p:txBody>
      </p:sp>
      <p:graphicFrame>
        <p:nvGraphicFramePr>
          <p:cNvPr id="6" name="tabla_sprint1"/>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3246120"/>
                <a:gridCol w="21488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se hizo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Quién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1.1.1 Planificación y backlog</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Plan de 9 sprints y 604 horas, con tareas, responsables y criterios (Excel del plan).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Ordenar el trabajo y repartir la carga entre los tres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Equipo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1.1.2 Entorno y repositorio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Repositorio en GitHub, ramas por tarea y revisión de pull requests, guía de contribución.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Trabajar en paralelo con trazabilidad</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1.1.3 Descarga de datos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Velas de 5 min de las 30 acciones del IPSA (yfinance), con manifiesto y reporte de calidad.</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Tener datos reales para calibrar y validar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1.1.4 Vectores S_M y S_E</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Esquemas JSON: estado del Maestro (7 variables) y de los Ejecutores (27 variables).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Fijar el contrato entre datos, entorno y redes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1.1.5 Sprint Review</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Revisión de lo entregado y ajuste del plan.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Cerrar el sprint con evidencia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Equipo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Sprint 2 (31 ago–11 sep): datos y entorno</a:t>
            </a:r>
            <a:endParaRPr lang="en-US" sz="3000" dirty="0"/>
          </a:p>
        </p:txBody>
      </p:sp>
      <p:graphicFrame>
        <p:nvGraphicFramePr>
          <p:cNvPr id="7" name="tabla_sprint2"/>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3246120"/>
                <a:gridCol w="21488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se hizo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Quién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1.2.1 Limpieza de datos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Grilla fija de 78 velas por día, imputación marcada, fusión de la subasta de cierre y normalización.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Datos homogéneos para el simulador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1.2.2 Variables del Maestro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Volatilidad, volumen promedio y tramo horario calculados desde las velas.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Alimentar el estado S_M del Maestro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1.2.3 Prueba de ABIDES-Gym</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Prueba de concepto del simulador de libro de órdenes de JP Morgan.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Confirmar que sirve como entorno final</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1.2.4 Dependencias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Receta de instalación (Python 3.9, versiones fijadas) y lista congelada de paquetes.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Que cualquiera reproduzca el entorno en Colab</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1.2.5 Arquitectura del entorno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Tres capas (Maestro, Ejecutores, simulación), ciclo reset/step y mensajes ASIGNAR/REPORTE.</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Definir cómo se conectan los componentes antes de programarlos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Sprint 3 (14–25 sep): redes y espacios</a:t>
            </a:r>
            <a:endParaRPr lang="en-US" sz="3000" dirty="0"/>
          </a:p>
        </p:txBody>
      </p:sp>
      <p:graphicFrame>
        <p:nvGraphicFramePr>
          <p:cNvPr id="8" name="tabla_sprint3"/>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3246120"/>
                <a:gridCol w="21488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se hizo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Quién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2.1.1 Red del Maestro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Red Actor-Crítico en PyTorch: 7 entradas, 40 acciones, dos capas de 256 neuronas.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Decidir cuánto y cuándo ejecutar cada 30 minutos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2.1.2 Redes de los Ejecutores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Tres redes, una por tramo: 27 entradas y 240 acciones; fábrica que las crea y conecta.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Decidir cómo ejecutar cada 30 segundos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2.1.3 Calibración de Poisson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Intensidades de llegada λ⁺, λ⁻ y θ por activo y tramo (90 combinaciones) y simulador de libro liviano.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Simular el mercado sin depender de ABIDES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 / 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2.1.4 Espacios Gymnasium</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S_M, S_E, A_M (40) y A_E (240) como espacios Gymnasium, con conversión de índices.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Que redes y entornos hablen el mismo formato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49224">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2.1.5 Sprint Review</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Revisión del sprint y de las desviaciones de diseño.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Cerrar con las decisiones documentadas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Equipo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Cómo se comporta el IPSA en el día</a:t>
            </a:r>
            <a:endParaRPr lang="en-US" sz="3000" dirty="0"/>
          </a:p>
        </p:txBody>
      </p:sp>
      <p:pic>
        <p:nvPicPr>
          <p:cNvPr id="3" name="perfil_mercado" descr="Spread, volatilidad y volumen por tramo horario del IPSA">    </p:cNvPr>
          <p:cNvPicPr>
            <a:picLocks noChangeAspect="1"/>
          </p:cNvPicPr>
          <p:nvPr/>
        </p:nvPicPr>
        <p:blipFill>
          <a:blip r:embed="rId1"/>
          <a:stretch>
            <a:fillRect/>
          </a:stretch>
        </p:blipFill>
        <p:spPr>
          <a:xfrm>
            <a:off x="683279" y="1051560"/>
            <a:ext cx="7777442" cy="2194560"/>
          </a:xfrm>
          <a:prstGeom prst="rect">
            <a:avLst/>
          </a:prstGeom>
        </p:spPr>
      </p:pic>
      <p:sp>
        <p:nvSpPr>
          <p:cNvPr id="4" name="hallazgo_spread_fondo"/>
          <p:cNvSpPr/>
          <p:nvPr/>
        </p:nvSpPr>
        <p:spPr>
          <a:xfrm>
            <a:off x="457200" y="3383280"/>
            <a:ext cx="2651760" cy="1280160"/>
          </a:xfrm>
          <a:prstGeom prst="roundRect">
            <a:avLst>
              <a:gd name="adj" fmla="val 5714"/>
            </a:avLst>
          </a:prstGeom>
          <a:solidFill>
            <a:srgbClr val="EEF2FA"/>
          </a:solidFill>
          <a:ln w="12700">
            <a:solidFill>
              <a:srgbClr val="EEF2FA"/>
            </a:solidFill>
            <a:prstDash val="solid"/>
          </a:ln>
        </p:spPr>
      </p:sp>
      <p:sp>
        <p:nvSpPr>
          <p:cNvPr id="5" name="hallazgo_spread_titulo"/>
          <p:cNvSpPr txBox="1"/>
          <p:nvPr/>
        </p:nvSpPr>
        <p:spPr>
          <a:xfrm>
            <a:off x="594360" y="3456432"/>
            <a:ext cx="237744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Spread</a:t>
            </a:r>
            <a:endParaRPr lang="en-US" sz="1500" dirty="0"/>
          </a:p>
        </p:txBody>
      </p:sp>
      <p:sp>
        <p:nvSpPr>
          <p:cNvPr id="6" name="hallazgo_spread_texto"/>
          <p:cNvSpPr txBox="1"/>
          <p:nvPr/>
        </p:nvSpPr>
        <p:spPr>
          <a:xfrm>
            <a:off x="594360" y="3840480"/>
            <a:ext cx="237744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0,138 % en la apertura, 0,112 % en media jornada y 0,128 % en el cierre.</a:t>
            </a:r>
            <a:endParaRPr lang="en-US" sz="1300" dirty="0"/>
          </a:p>
        </p:txBody>
      </p:sp>
      <p:sp>
        <p:nvSpPr>
          <p:cNvPr id="7" name="hallazgo_vol_fondo"/>
          <p:cNvSpPr/>
          <p:nvPr/>
        </p:nvSpPr>
        <p:spPr>
          <a:xfrm>
            <a:off x="3246120" y="3383280"/>
            <a:ext cx="2651760" cy="1280160"/>
          </a:xfrm>
          <a:prstGeom prst="roundRect">
            <a:avLst>
              <a:gd name="adj" fmla="val 5714"/>
            </a:avLst>
          </a:prstGeom>
          <a:solidFill>
            <a:srgbClr val="EEF2FA"/>
          </a:solidFill>
          <a:ln w="12700">
            <a:solidFill>
              <a:srgbClr val="EEF2FA"/>
            </a:solidFill>
            <a:prstDash val="solid"/>
          </a:ln>
        </p:spPr>
      </p:sp>
      <p:sp>
        <p:nvSpPr>
          <p:cNvPr id="8" name="hallazgo_vol_titulo"/>
          <p:cNvSpPr txBox="1"/>
          <p:nvPr/>
        </p:nvSpPr>
        <p:spPr>
          <a:xfrm>
            <a:off x="3383280" y="3456432"/>
            <a:ext cx="237744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Volatilidad</a:t>
            </a:r>
            <a:endParaRPr lang="en-US" sz="1500" dirty="0"/>
          </a:p>
        </p:txBody>
      </p:sp>
      <p:sp>
        <p:nvSpPr>
          <p:cNvPr id="9" name="hallazgo_vol_texto"/>
          <p:cNvSpPr txBox="1"/>
          <p:nvPr/>
        </p:nvSpPr>
        <p:spPr>
          <a:xfrm>
            <a:off x="3383280" y="3840480"/>
            <a:ext cx="237744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Decrece de la apertura a la media jornada y se mantiene baja en el cierre.</a:t>
            </a:r>
            <a:endParaRPr lang="en-US" sz="1300" dirty="0"/>
          </a:p>
        </p:txBody>
      </p:sp>
      <p:sp>
        <p:nvSpPr>
          <p:cNvPr id="10" name="hallazgo_volumen_fondo"/>
          <p:cNvSpPr/>
          <p:nvPr/>
        </p:nvSpPr>
        <p:spPr>
          <a:xfrm>
            <a:off x="6035040" y="3383280"/>
            <a:ext cx="2651760" cy="1280160"/>
          </a:xfrm>
          <a:prstGeom prst="roundRect">
            <a:avLst>
              <a:gd name="adj" fmla="val 5714"/>
            </a:avLst>
          </a:prstGeom>
          <a:solidFill>
            <a:srgbClr val="EEF2FA"/>
          </a:solidFill>
          <a:ln w="12700">
            <a:solidFill>
              <a:srgbClr val="EEF2FA"/>
            </a:solidFill>
            <a:prstDash val="solid"/>
          </a:ln>
        </p:spPr>
      </p:sp>
      <p:sp>
        <p:nvSpPr>
          <p:cNvPr id="11" name="hallazgo_volumen_titulo"/>
          <p:cNvSpPr txBox="1"/>
          <p:nvPr/>
        </p:nvSpPr>
        <p:spPr>
          <a:xfrm>
            <a:off x="6172200" y="3456432"/>
            <a:ext cx="237744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Volumen por vela</a:t>
            </a:r>
            <a:endParaRPr lang="en-US" sz="1500" dirty="0"/>
          </a:p>
        </p:txBody>
      </p:sp>
      <p:sp>
        <p:nvSpPr>
          <p:cNvPr id="12" name="hallazgo_volumen_texto"/>
          <p:cNvSpPr txBox="1"/>
          <p:nvPr/>
        </p:nvSpPr>
        <p:spPr>
          <a:xfrm>
            <a:off x="6172200" y="3840480"/>
            <a:ext cx="237744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Crece hacia el cierre: de 396.765 a 698.419 acciones.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Sprint 4 (28 sep–9 oct): PPO y recompensas</a:t>
            </a:r>
            <a:endParaRPr lang="en-US" sz="3000" dirty="0"/>
          </a:p>
        </p:txBody>
      </p:sp>
      <p:graphicFrame>
        <p:nvGraphicFramePr>
          <p:cNvPr id="10" name="tabla_sprint4a"/>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3246120"/>
                <a:gridCol w="21488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se hizo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Quién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2.2.1 PPO: L_CLIP y GAE</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Algoritmo PPO con recorte, ventajas GAE, registro de métricas y puntos de control.</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Algoritmo con el que aprenden los agentes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2.2.2 Recompensa del Maestro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Calibración de λ con 100 simulaciones: λ = 0,05 (penalización ≈ 1 vez el costo).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Que complete la orden sin desestabilizar el entrenamiento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MR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2.2.3 Recompensa de los Ejecutores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Varianza causal normalizada y barrido de β; fase 2 con PPO en ABIDES: β = 0,0061796.</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Equilibrar costo de ejecución y riesgo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 / 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2.3.4 TWAP y VWAP (adelanto)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Dos estrategias de referencia ejecutadas sobre 10 meta-órdenes pareadas.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Línea base que el sistema debe superar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Sprint 4: el simulador y su validación</a:t>
            </a:r>
            <a:endParaRPr lang="en-US" sz="3000" dirty="0"/>
          </a:p>
        </p:txBody>
      </p:sp>
      <p:graphicFrame>
        <p:nvGraphicFramePr>
          <p:cNvPr id="11" name="tabla_sprint4b"/>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3246120"/>
                <a:gridCol w="214884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se hizo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Quién</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1E2761"/>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2.2.4 Calibración de rmsc04</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Parámetros de ABIDES ajustados con datos de FALABELLA (grilla, refinamiento y 30 semillas).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Que el mercado simulado se parezca al IPSA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BF</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Extensión a COPEC y ECL</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Mismo método en otros dos activos; se ajustó la proporción de agentes de momentum.</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Contar con tres activos calibrados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2.2.5 Validación del simulador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Pruebas KS, Mann–Whitney y Kruskal–Wallis con 30 semillas por tramo, antes y después de calibrar.</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Medir cuánto se parece al mercado real</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PS</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FFFFF"/>
                    </a:solidFill>
                  </a:tcPr>
                </a:tc>
              </a:tr>
              <a:tr h="685800">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Cierre de los sprints 1 a 4</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Acta de cierre, revisión cruzada y entregables menores integrados al repositorio.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dirty="0">
                          <a:solidFill>
                            <a:srgbClr val="1A1F3C"/>
                          </a:solidFill>
                          <a:latin typeface="Calibri" pitchFamily="34" charset="0"/>
                          <a:ea typeface="Calibri" pitchFamily="34" charset="-122"/>
                          <a:cs typeface="Calibri" pitchFamily="34" charset="-120"/>
                        </a:rPr>
                        <a:t>Dejar cuatro sprints cerrados con evidencia</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c>
                  <a:txBody>
                    <a:bodyPr/>
                    <a:lstStyle/>
                    <a:p>
                      <a:pPr indent="0" marL="0">
                        <a:buNone/>
                      </a:pPr>
                      <a:r>
                        <a:rPr lang="en-US" sz="1200" b="1" dirty="0">
                          <a:solidFill>
                            <a:srgbClr val="1A1F3C"/>
                          </a:solidFill>
                          <a:latin typeface="Calibri" pitchFamily="34" charset="0"/>
                          <a:ea typeface="Calibri" pitchFamily="34" charset="-122"/>
                          <a:cs typeface="Calibri" pitchFamily="34" charset="-120"/>
                        </a:rPr>
                        <a:t>Equipo</a:t>
                      </a:r>
                      <a:endParaRPr lang="en-US" sz="1200" dirty="0">
                        <a:latin typeface="Calibri" charset="0"/>
                        <a:ea typeface="Calibri" charset="0"/>
                        <a:cs typeface="Calibri" charset="0"/>
                      </a:endParaRPr>
                    </a:p>
                  </a:txBody>
                  <a:tcPr marL="54864" marR="54864" marT="54864" marB="54864" anchor="ctr">
                    <a:lnL w="6350" cap="flat" cmpd="sng" algn="ctr">
                      <a:solidFill>
                        <a:srgbClr val="C9D3EA"/>
                      </a:solidFill>
                      <a:prstDash val="solid"/>
                      <a:round/>
                      <a:headEnd type="none" w="med" len="med"/>
                      <a:tailEnd type="none" w="med" len="med"/>
                    </a:lnL>
                    <a:lnR w="6350" cap="flat" cmpd="sng" algn="ctr">
                      <a:solidFill>
                        <a:srgbClr val="C9D3EA"/>
                      </a:solidFill>
                      <a:prstDash val="solid"/>
                      <a:round/>
                      <a:headEnd type="none" w="med" len="med"/>
                      <a:tailEnd type="none" w="med" len="med"/>
                    </a:lnR>
                    <a:lnT w="6350" cap="flat" cmpd="sng" algn="ctr">
                      <a:solidFill>
                        <a:srgbClr val="C9D3EA"/>
                      </a:solidFill>
                      <a:prstDash val="solid"/>
                      <a:round/>
                      <a:headEnd type="none" w="med" len="med"/>
                      <a:tailEnd type="none" w="med" len="med"/>
                    </a:lnT>
                    <a:lnB w="6350" cap="flat" cmpd="sng" algn="ctr">
                      <a:solidFill>
                        <a:srgbClr val="C9D3EA"/>
                      </a:solidFill>
                      <a:prstDash val="solid"/>
                      <a:round/>
                      <a:headEnd type="none" w="med" len="med"/>
                      <a:tailEnd type="none" w="med" len="med"/>
                    </a:lnB>
                    <a:solidFill>
                      <a:srgbClr val="F4F6FB"/>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Validación: la calibración acerca el simulador</a:t>
            </a:r>
            <a:endParaRPr lang="en-US" sz="3000" dirty="0"/>
          </a:p>
        </p:txBody>
      </p:sp>
      <p:graphicFrame>
        <p:nvGraphicFramePr>
          <p:cNvPr id="3" name="Chart 0" descr=""/>
          <p:cNvGraphicFramePr/>
          <p:nvPr/>
        </p:nvGraphicFramePr>
        <p:xfrm>
          <a:off x="457200" y="1051560"/>
          <a:ext cx="4572000" cy="3566160"/>
        </p:xfrm>
        <a:graphic xmlns:a="http://schemas.openxmlformats.org/drawingml/2006/main">
          <a:graphicData uri="http://schemas.openxmlformats.org/drawingml/2006/chart">
            <c:chart xmlns:c="http://schemas.openxmlformats.org/drawingml/2006/chart" r:id="rId1"/>
          </a:graphicData>
        </a:graphic>
      </p:graphicFrame>
      <p:sp>
        <p:nvSpPr>
          <p:cNvPr id="4" name="valid_si_fondo"/>
          <p:cNvSpPr/>
          <p:nvPr/>
        </p:nvSpPr>
        <p:spPr>
          <a:xfrm>
            <a:off x="5212080" y="1097280"/>
            <a:ext cx="3474720" cy="1600200"/>
          </a:xfrm>
          <a:prstGeom prst="roundRect">
            <a:avLst>
              <a:gd name="adj" fmla="val 4571"/>
            </a:avLst>
          </a:prstGeom>
          <a:solidFill>
            <a:srgbClr val="E3F2EC"/>
          </a:solidFill>
          <a:ln w="12700">
            <a:solidFill>
              <a:srgbClr val="E3F2EC"/>
            </a:solidFill>
            <a:prstDash val="solid"/>
          </a:ln>
        </p:spPr>
      </p:sp>
      <p:sp>
        <p:nvSpPr>
          <p:cNvPr id="5" name="valid_si_titulo"/>
          <p:cNvSpPr txBox="1"/>
          <p:nvPr/>
        </p:nvSpPr>
        <p:spPr>
          <a:xfrm>
            <a:off x="5349240" y="1170432"/>
            <a:ext cx="3200400" cy="365760"/>
          </a:xfrm>
          <a:prstGeom prst="rect">
            <a:avLst/>
          </a:prstGeom>
          <a:noFill/>
          <a:ln/>
        </p:spPr>
        <p:txBody>
          <a:bodyPr wrap="square" lIns="0" tIns="0" rIns="0" bIns="0" rtlCol="0" anchor="ctr"/>
          <a:lstStyle/>
          <a:p>
            <a:pPr indent="0" marL="0">
              <a:buNone/>
            </a:pPr>
            <a:r>
              <a:rPr lang="en-US" sz="1500" b="1" dirty="0">
                <a:solidFill>
                  <a:srgbClr val="1F6F55"/>
                </a:solidFill>
                <a:latin typeface="Cambria" pitchFamily="34" charset="0"/>
                <a:ea typeface="Cambria" pitchFamily="34" charset="-122"/>
                <a:cs typeface="Cambria" pitchFamily="34" charset="-120"/>
              </a:rPr>
              <a:t>Lo que sí coincide</a:t>
            </a:r>
            <a:endParaRPr lang="en-US" sz="1500" dirty="0"/>
          </a:p>
        </p:txBody>
      </p:sp>
      <p:sp>
        <p:nvSpPr>
          <p:cNvPr id="6" name="valid_si_texto"/>
          <p:cNvSpPr txBox="1"/>
          <p:nvPr/>
        </p:nvSpPr>
        <p:spPr>
          <a:xfrm>
            <a:off x="5349240" y="1554480"/>
            <a:ext cx="3200400" cy="10515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Escala de los retornos (desvío 0,89 a 0,98 del real)</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Patrón entre tramos</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Tamaño de efecto trivial</a:t>
            </a:r>
            <a:endParaRPr lang="en-US" sz="1200" dirty="0"/>
          </a:p>
        </p:txBody>
      </p:sp>
      <p:sp>
        <p:nvSpPr>
          <p:cNvPr id="7" name="valid_no_fondo"/>
          <p:cNvSpPr/>
          <p:nvPr/>
        </p:nvSpPr>
        <p:spPr>
          <a:xfrm>
            <a:off x="5212080" y="2834640"/>
            <a:ext cx="3474720" cy="1783080"/>
          </a:xfrm>
          <a:prstGeom prst="roundRect">
            <a:avLst>
              <a:gd name="adj" fmla="val 4103"/>
            </a:avLst>
          </a:prstGeom>
          <a:solidFill>
            <a:srgbClr val="FBEFD9"/>
          </a:solidFill>
          <a:ln w="12700">
            <a:solidFill>
              <a:srgbClr val="FBEFD9"/>
            </a:solidFill>
            <a:prstDash val="solid"/>
          </a:ln>
        </p:spPr>
      </p:sp>
      <p:sp>
        <p:nvSpPr>
          <p:cNvPr id="8" name="valid_no_titulo"/>
          <p:cNvSpPr txBox="1"/>
          <p:nvPr/>
        </p:nvSpPr>
        <p:spPr>
          <a:xfrm>
            <a:off x="5349240" y="2907792"/>
            <a:ext cx="3200400" cy="365760"/>
          </a:xfrm>
          <a:prstGeom prst="rect">
            <a:avLst/>
          </a:prstGeom>
          <a:noFill/>
          <a:ln/>
        </p:spPr>
        <p:txBody>
          <a:bodyPr wrap="square" lIns="0" tIns="0" rIns="0" bIns="0" rtlCol="0" anchor="ctr"/>
          <a:lstStyle/>
          <a:p>
            <a:pPr indent="0" marL="0">
              <a:buNone/>
            </a:pPr>
            <a:r>
              <a:rPr lang="en-US" sz="1500" b="1" dirty="0">
                <a:solidFill>
                  <a:srgbClr val="8A5A00"/>
                </a:solidFill>
                <a:latin typeface="Cambria" pitchFamily="34" charset="0"/>
                <a:ea typeface="Cambria" pitchFamily="34" charset="-122"/>
                <a:cs typeface="Cambria" pitchFamily="34" charset="-120"/>
              </a:rPr>
              <a:t>Límites declarados</a:t>
            </a:r>
            <a:endParaRPr lang="en-US" sz="1500" dirty="0"/>
          </a:p>
        </p:txBody>
      </p:sp>
      <p:sp>
        <p:nvSpPr>
          <p:cNvPr id="9" name="valid_no_texto"/>
          <p:cNvSpPr txBox="1"/>
          <p:nvPr/>
        </p:nvSpPr>
        <p:spPr>
          <a:xfrm>
            <a:off x="5349240" y="3291840"/>
            <a:ext cx="3200400" cy="12344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El KS rechaza con miles de retornos</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Volumen por vela: +49 %, +22 %, +5 %</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Spread 0,17 bps frente a 4–35 bps reales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Recompensa y benchmarks: resultados</a:t>
            </a:r>
            <a:endParaRPr lang="en-US" sz="3000" dirty="0"/>
          </a:p>
        </p:txBody>
      </p:sp>
      <p:pic>
        <p:nvPicPr>
          <p:cNvPr id="3" name="beta_fase2" descr="Slippage y cumplimiento para cada valor de beta">    </p:cNvPr>
          <p:cNvPicPr>
            <a:picLocks noChangeAspect="1"/>
          </p:cNvPicPr>
          <p:nvPr/>
        </p:nvPicPr>
        <p:blipFill>
          <a:blip r:embed="rId1"/>
          <a:stretch>
            <a:fillRect/>
          </a:stretch>
        </p:blipFill>
        <p:spPr>
          <a:xfrm>
            <a:off x="457200" y="1176528"/>
            <a:ext cx="4663440" cy="1761744"/>
          </a:xfrm>
          <a:prstGeom prst="rect">
            <a:avLst/>
          </a:prstGeom>
        </p:spPr>
      </p:pic>
      <p:sp>
        <p:nvSpPr>
          <p:cNvPr id="4" name="texto_beta"/>
          <p:cNvSpPr txBox="1"/>
          <p:nvPr/>
        </p:nvSpPr>
        <p:spPr>
          <a:xfrm>
            <a:off x="457200" y="3108960"/>
            <a:ext cx="466344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Elección de β (apertura, 300 episodios por valor): solo 0,1 × β∗ completa el 95 % de la orden. Con β mayor, no operar sale gratis.</a:t>
            </a:r>
            <a:endParaRPr lang="en-US" sz="1300" dirty="0"/>
          </a:p>
        </p:txBody>
      </p:sp>
      <p:sp>
        <p:nvSpPr>
          <p:cNvPr id="5" name="nota_beta"/>
          <p:cNvSpPr txBox="1"/>
          <p:nvPr/>
        </p:nvSpPr>
        <p:spPr>
          <a:xfrm>
            <a:off x="457200" y="4023360"/>
            <a:ext cx="4663440" cy="457200"/>
          </a:xfrm>
          <a:prstGeom prst="rect">
            <a:avLst/>
          </a:prstGeom>
          <a:noFill/>
          <a:ln/>
        </p:spPr>
        <p:txBody>
          <a:bodyPr wrap="square" lIns="0" tIns="0" rIns="0" bIns="0" rtlCol="0" anchor="t"/>
          <a:lstStyle/>
          <a:p>
            <a:pPr indent="0" marL="0">
              <a:buNone/>
            </a:pPr>
            <a:r>
              <a:rPr lang="en-US" sz="1200" i="1" dirty="0">
                <a:solidFill>
                  <a:schemeClr val="accent2"/>
                </a:solidFill>
                <a:latin typeface="Calibri" pitchFamily="34" charset="0"/>
                <a:ea typeface="Calibri" pitchFamily="34" charset="-122"/>
                <a:cs typeface="Calibri" pitchFamily="34" charset="-120"/>
              </a:rPr>
              <a:t>Regla fijada antes de ver los datos; β = 0,0061796 es provisional.</a:t>
            </a:r>
            <a:endParaRPr lang="en-US" sz="1200" dirty="0"/>
          </a:p>
        </p:txBody>
      </p:sp>
      <p:graphicFrame>
        <p:nvGraphicFramePr>
          <p:cNvPr id="6" name="Chart 0" descr=""/>
          <p:cNvGraphicFramePr/>
          <p:nvPr/>
        </p:nvGraphicFramePr>
        <p:xfrm>
          <a:off x="5303520" y="1051560"/>
          <a:ext cx="3383280" cy="2651760"/>
        </p:xfrm>
        <a:graphic xmlns:a="http://schemas.openxmlformats.org/drawingml/2006/main">
          <a:graphicData uri="http://schemas.openxmlformats.org/drawingml/2006/chart">
            <c:chart xmlns:c="http://schemas.openxmlformats.org/drawingml/2006/chart" r:id="rId2"/>
          </a:graphicData>
        </a:graphic>
      </p:graphicFrame>
      <p:sp>
        <p:nvSpPr>
          <p:cNvPr id="7" name="texto_bench"/>
          <p:cNvSpPr txBox="1"/>
          <p:nvPr/>
        </p:nvSpPr>
        <p:spPr>
          <a:xfrm>
            <a:off x="5303520" y="3749040"/>
            <a:ext cx="3383280" cy="73152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VWAP cuesta 3,8 % menos que TWAP en las 10 corridas (Wilcoxon p = 0,00195).</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Balance de los sprints 1 a 4</a:t>
            </a:r>
            <a:endParaRPr lang="en-US" sz="3000" dirty="0"/>
          </a:p>
        </p:txBody>
      </p:sp>
      <p:sp>
        <p:nvSpPr>
          <p:cNvPr id="3" name="st_hecho_valor"/>
          <p:cNvSpPr txBox="1"/>
          <p:nvPr/>
        </p:nvSpPr>
        <p:spPr>
          <a:xfrm>
            <a:off x="457200" y="1097280"/>
            <a:ext cx="2468880" cy="685800"/>
          </a:xfrm>
          <a:prstGeom prst="rect">
            <a:avLst/>
          </a:prstGeom>
          <a:noFill/>
          <a:ln/>
        </p:spPr>
        <p:txBody>
          <a:bodyPr wrap="square" lIns="0" tIns="0" rIns="0" bIns="0" rtlCol="0" anchor="ctr"/>
          <a:lstStyle/>
          <a:p>
            <a:pPr algn="l" indent="0" marL="0">
              <a:buNone/>
            </a:pPr>
            <a:r>
              <a:rPr lang="en-US" sz="4000" b="1" dirty="0">
                <a:solidFill>
                  <a:srgbClr val="2E8B6E"/>
                </a:solidFill>
                <a:latin typeface="Cambria" pitchFamily="34" charset="0"/>
                <a:ea typeface="Cambria" pitchFamily="34" charset="-122"/>
                <a:cs typeface="Cambria" pitchFamily="34" charset="-120"/>
              </a:rPr>
              <a:t>10</a:t>
            </a:r>
            <a:endParaRPr lang="en-US" sz="4000" dirty="0"/>
          </a:p>
        </p:txBody>
      </p:sp>
      <p:sp>
        <p:nvSpPr>
          <p:cNvPr id="4" name="st_hecho_texto"/>
          <p:cNvSpPr txBox="1"/>
          <p:nvPr/>
        </p:nvSpPr>
        <p:spPr>
          <a:xfrm>
            <a:off x="457200" y="1783080"/>
            <a:ext cx="2468880" cy="502920"/>
          </a:xfrm>
          <a:prstGeom prst="rect">
            <a:avLst/>
          </a:prstGeom>
          <a:noFill/>
          <a:ln/>
        </p:spPr>
        <p:txBody>
          <a:bodyPr wrap="square" lIns="0" tIns="0" rIns="0" bIns="0" rtlCol="0" anchor="t"/>
          <a:lstStyle/>
          <a:p>
            <a:pPr algn="l" indent="0" marL="0">
              <a:buNone/>
            </a:pPr>
            <a:r>
              <a:rPr lang="en-US" sz="1200" dirty="0">
                <a:solidFill>
                  <a:schemeClr val="tx1"/>
                </a:solidFill>
                <a:latin typeface="Calibri" pitchFamily="34" charset="0"/>
                <a:ea typeface="Calibri" pitchFamily="34" charset="-122"/>
                <a:cs typeface="Calibri" pitchFamily="34" charset="-120"/>
              </a:rPr>
              <a:t>tareas cumplen su criterio del plan</a:t>
            </a:r>
            <a:endParaRPr lang="en-US" sz="1200" dirty="0"/>
          </a:p>
        </p:txBody>
      </p:sp>
      <p:sp>
        <p:nvSpPr>
          <p:cNvPr id="5" name="st_limite_valor"/>
          <p:cNvSpPr txBox="1"/>
          <p:nvPr/>
        </p:nvSpPr>
        <p:spPr>
          <a:xfrm>
            <a:off x="3108960" y="1097280"/>
            <a:ext cx="2468880" cy="685800"/>
          </a:xfrm>
          <a:prstGeom prst="rect">
            <a:avLst/>
          </a:prstGeom>
          <a:noFill/>
          <a:ln/>
        </p:spPr>
        <p:txBody>
          <a:bodyPr wrap="square" lIns="0" tIns="0" rIns="0" bIns="0" rtlCol="0" anchor="ctr"/>
          <a:lstStyle/>
          <a:p>
            <a:pPr algn="l" indent="0" marL="0">
              <a:buNone/>
            </a:pPr>
            <a:r>
              <a:rPr lang="en-US" sz="4000" b="1" dirty="0">
                <a:solidFill>
                  <a:srgbClr val="B7791F"/>
                </a:solidFill>
                <a:latin typeface="Cambria" pitchFamily="34" charset="0"/>
                <a:ea typeface="Cambria" pitchFamily="34" charset="-122"/>
                <a:cs typeface="Cambria" pitchFamily="34" charset="-120"/>
              </a:rPr>
              <a:t>6</a:t>
            </a:r>
            <a:endParaRPr lang="en-US" sz="4000" dirty="0"/>
          </a:p>
        </p:txBody>
      </p:sp>
      <p:sp>
        <p:nvSpPr>
          <p:cNvPr id="6" name="st_limite_texto"/>
          <p:cNvSpPr txBox="1"/>
          <p:nvPr/>
        </p:nvSpPr>
        <p:spPr>
          <a:xfrm>
            <a:off x="3108960" y="1783080"/>
            <a:ext cx="2468880" cy="731520"/>
          </a:xfrm>
          <a:prstGeom prst="rect">
            <a:avLst/>
          </a:prstGeom>
          <a:noFill/>
          <a:ln/>
        </p:spPr>
        <p:txBody>
          <a:bodyPr wrap="square" lIns="0" tIns="0" rIns="0" bIns="0" rtlCol="0" anchor="t"/>
          <a:lstStyle/>
          <a:p>
            <a:pPr algn="l" indent="0" marL="0">
              <a:buNone/>
            </a:pPr>
            <a:r>
              <a:rPr lang="en-US" sz="1200" dirty="0">
                <a:solidFill>
                  <a:schemeClr val="tx1"/>
                </a:solidFill>
                <a:latin typeface="Calibri" pitchFamily="34" charset="0"/>
                <a:ea typeface="Calibri" pitchFamily="34" charset="-122"/>
                <a:cs typeface="Calibri" pitchFamily="34" charset="-120"/>
              </a:rPr>
              <a:t>hechas con límite demostrado: se midieron y el límite está escrito</a:t>
            </a:r>
            <a:endParaRPr lang="en-US" sz="1200" dirty="0"/>
          </a:p>
        </p:txBody>
      </p:sp>
      <p:sp>
        <p:nvSpPr>
          <p:cNvPr id="7" name="st_menor_valor"/>
          <p:cNvSpPr txBox="1"/>
          <p:nvPr/>
        </p:nvSpPr>
        <p:spPr>
          <a:xfrm>
            <a:off x="5760720" y="1097280"/>
            <a:ext cx="2926080" cy="685800"/>
          </a:xfrm>
          <a:prstGeom prst="rect">
            <a:avLst/>
          </a:prstGeom>
          <a:noFill/>
          <a:ln/>
        </p:spPr>
        <p:txBody>
          <a:bodyPr wrap="square" lIns="0" tIns="0" rIns="0" bIns="0" rtlCol="0" anchor="ctr"/>
          <a:lstStyle/>
          <a:p>
            <a:pPr algn="l" indent="0" marL="0">
              <a:buNone/>
            </a:pPr>
            <a:r>
              <a:rPr lang="en-US" sz="4000" b="1" dirty="0">
                <a:solidFill>
                  <a:schemeClr val="tx2"/>
                </a:solidFill>
                <a:latin typeface="Cambria" pitchFamily="34" charset="0"/>
                <a:ea typeface="Cambria" pitchFamily="34" charset="-122"/>
                <a:cs typeface="Cambria" pitchFamily="34" charset="-120"/>
              </a:rPr>
              <a:t>3</a:t>
            </a:r>
            <a:endParaRPr lang="en-US" sz="4000" dirty="0"/>
          </a:p>
        </p:txBody>
      </p:sp>
      <p:sp>
        <p:nvSpPr>
          <p:cNvPr id="8" name="st_menor_texto"/>
          <p:cNvSpPr txBox="1"/>
          <p:nvPr/>
        </p:nvSpPr>
        <p:spPr>
          <a:xfrm>
            <a:off x="5760720" y="1783080"/>
            <a:ext cx="2926080" cy="731520"/>
          </a:xfrm>
          <a:prstGeom prst="rect">
            <a:avLst/>
          </a:prstGeom>
          <a:noFill/>
          <a:ln/>
        </p:spPr>
        <p:txBody>
          <a:bodyPr wrap="square" lIns="0" tIns="0" rIns="0" bIns="0" rtlCol="0" anchor="t"/>
          <a:lstStyle/>
          <a:p>
            <a:pPr algn="l" indent="0" marL="0">
              <a:buNone/>
            </a:pPr>
            <a:r>
              <a:rPr lang="en-US" sz="1200" dirty="0">
                <a:solidFill>
                  <a:schemeClr val="tx1"/>
                </a:solidFill>
                <a:latin typeface="Calibri" pitchFamily="34" charset="0"/>
                <a:ea typeface="Calibri" pitchFamily="34" charset="-122"/>
                <a:cs typeface="Calibri" pitchFamily="34" charset="-120"/>
              </a:rPr>
              <a:t>entregables menores cerrados en el PR de cierre</a:t>
            </a:r>
            <a:endParaRPr lang="en-US" sz="1200" dirty="0"/>
          </a:p>
        </p:txBody>
      </p:sp>
      <p:pic>
        <p:nvPicPr>
          <p:cNvPr id="9" name="horas" descr="Horas planificadas y completadas por sprint">    </p:cNvPr>
          <p:cNvPicPr>
            <a:picLocks noChangeAspect="1"/>
          </p:cNvPicPr>
          <p:nvPr/>
        </p:nvPicPr>
        <p:blipFill>
          <a:blip r:embed="rId1"/>
          <a:stretch>
            <a:fillRect/>
          </a:stretch>
        </p:blipFill>
        <p:spPr>
          <a:xfrm>
            <a:off x="457200" y="2666129"/>
            <a:ext cx="4206240" cy="1982942"/>
          </a:xfrm>
          <a:prstGeom prst="rect">
            <a:avLst/>
          </a:prstGeom>
        </p:spPr>
      </p:pic>
      <p:sp>
        <p:nvSpPr>
          <p:cNvPr id="10" name="avance_fondo"/>
          <p:cNvSpPr/>
          <p:nvPr/>
        </p:nvSpPr>
        <p:spPr>
          <a:xfrm>
            <a:off x="4846320" y="2697480"/>
            <a:ext cx="3840480" cy="1920240"/>
          </a:xfrm>
          <a:prstGeom prst="roundRect">
            <a:avLst>
              <a:gd name="adj" fmla="val 3810"/>
            </a:avLst>
          </a:prstGeom>
          <a:solidFill>
            <a:srgbClr val="EEF2FA"/>
          </a:solidFill>
          <a:ln w="12700">
            <a:solidFill>
              <a:srgbClr val="EEF2FA"/>
            </a:solidFill>
            <a:prstDash val="solid"/>
          </a:ln>
        </p:spPr>
      </p:sp>
      <p:sp>
        <p:nvSpPr>
          <p:cNvPr id="11" name="avance_titulo"/>
          <p:cNvSpPr txBox="1"/>
          <p:nvPr/>
        </p:nvSpPr>
        <p:spPr>
          <a:xfrm>
            <a:off x="4983480" y="2770632"/>
            <a:ext cx="3566160" cy="36576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Avance en horas</a:t>
            </a:r>
            <a:endParaRPr lang="en-US" sz="1500" dirty="0"/>
          </a:p>
        </p:txBody>
      </p:sp>
      <p:sp>
        <p:nvSpPr>
          <p:cNvPr id="12" name="avance_texto"/>
          <p:cNvSpPr txBox="1"/>
          <p:nvPr/>
        </p:nvSpPr>
        <p:spPr>
          <a:xfrm>
            <a:off x="4983480" y="3154680"/>
            <a:ext cx="3566160"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216 de 604 horas cerradas (≈ 36 %)</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Sprints 3 y 4 completos y benchmarks adelantados</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263 pruebas automáticas, 255 pasan y 8 se omiten</a:t>
            </a:r>
            <a:endParaRPr lang="en-US" sz="1200" dirty="0"/>
          </a:p>
          <a:p>
            <a:pPr marL="342900" indent="-342900">
              <a:spcAft>
                <a:spcPts val="300"/>
              </a:spcAft>
              <a:buSzPct val="100000"/>
              <a:buChar char="•"/>
            </a:pPr>
            <a:r>
              <a:rPr lang="en-US" sz="1200" dirty="0">
                <a:solidFill>
                  <a:schemeClr val="tx1"/>
                </a:solidFill>
                <a:latin typeface="Calibri" pitchFamily="34" charset="0"/>
                <a:ea typeface="Calibri" pitchFamily="34" charset="-122"/>
                <a:cs typeface="Calibri" pitchFamily="34" charset="-120"/>
              </a:rPr>
              <a:t>25 integraciones a la rama principal</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Quién hizo qué</a:t>
            </a:r>
            <a:endParaRPr lang="en-US" sz="3000" dirty="0"/>
          </a:p>
        </p:txBody>
      </p:sp>
      <p:sp>
        <p:nvSpPr>
          <p:cNvPr id="3" name="mr_fondo"/>
          <p:cNvSpPr/>
          <p:nvPr/>
        </p:nvSpPr>
        <p:spPr>
          <a:xfrm>
            <a:off x="457200" y="1097280"/>
            <a:ext cx="2651760" cy="3520440"/>
          </a:xfrm>
          <a:prstGeom prst="roundRect">
            <a:avLst>
              <a:gd name="adj" fmla="val 2759"/>
            </a:avLst>
          </a:prstGeom>
          <a:solidFill>
            <a:srgbClr val="EEF2FA"/>
          </a:solidFill>
          <a:ln w="12700">
            <a:solidFill>
              <a:srgbClr val="EEF2FA"/>
            </a:solidFill>
            <a:prstDash val="solid"/>
          </a:ln>
        </p:spPr>
      </p:sp>
      <p:sp>
        <p:nvSpPr>
          <p:cNvPr id="4" name="mr_titulo"/>
          <p:cNvSpPr txBox="1"/>
          <p:nvPr/>
        </p:nvSpPr>
        <p:spPr>
          <a:xfrm>
            <a:off x="594360" y="1170432"/>
            <a:ext cx="2377440" cy="41148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Mauricio Reynoso</a:t>
            </a:r>
            <a:endParaRPr lang="en-US" sz="1500" dirty="0"/>
          </a:p>
        </p:txBody>
      </p:sp>
      <p:sp>
        <p:nvSpPr>
          <p:cNvPr id="5" name="mr_texto"/>
          <p:cNvSpPr txBox="1"/>
          <p:nvPr/>
        </p:nvSpPr>
        <p:spPr>
          <a:xfrm>
            <a:off x="594360" y="1600200"/>
            <a:ext cx="2377440" cy="2926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Repositorio y guía de Colab</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Prueba de ABIDES-Gym y dependencias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Red del Maestro</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PPO: L_CLIP y GAE</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Recompensa del Maestro (λ = 0,05)</a:t>
            </a:r>
            <a:endParaRPr lang="en-US" sz="1400" dirty="0"/>
          </a:p>
        </p:txBody>
      </p:sp>
      <p:sp>
        <p:nvSpPr>
          <p:cNvPr id="6" name="bf_fondo"/>
          <p:cNvSpPr/>
          <p:nvPr/>
        </p:nvSpPr>
        <p:spPr>
          <a:xfrm>
            <a:off x="3246120" y="1097280"/>
            <a:ext cx="2651760" cy="3520440"/>
          </a:xfrm>
          <a:prstGeom prst="roundRect">
            <a:avLst>
              <a:gd name="adj" fmla="val 2759"/>
            </a:avLst>
          </a:prstGeom>
          <a:solidFill>
            <a:srgbClr val="EEF2FA"/>
          </a:solidFill>
          <a:ln w="12700">
            <a:solidFill>
              <a:srgbClr val="EEF2FA"/>
            </a:solidFill>
            <a:prstDash val="solid"/>
          </a:ln>
        </p:spPr>
      </p:sp>
      <p:sp>
        <p:nvSpPr>
          <p:cNvPr id="7" name="bf_titulo"/>
          <p:cNvSpPr txBox="1"/>
          <p:nvPr/>
        </p:nvSpPr>
        <p:spPr>
          <a:xfrm>
            <a:off x="3383280" y="1170432"/>
            <a:ext cx="2377440" cy="41148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Benjamín Farias</a:t>
            </a:r>
            <a:endParaRPr lang="en-US" sz="1500" dirty="0"/>
          </a:p>
        </p:txBody>
      </p:sp>
      <p:sp>
        <p:nvSpPr>
          <p:cNvPr id="8" name="bf_texto"/>
          <p:cNvSpPr txBox="1"/>
          <p:nvPr/>
        </p:nvSpPr>
        <p:spPr>
          <a:xfrm>
            <a:off x="3383280" y="1600200"/>
            <a:ext cx="2377440" cy="2926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Descarga y limpieza de datos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Variables del Maestro</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Calibración de Poisson por tramo</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Redes de los Ejecutores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Recompensa de los Ejecutores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Calibración de rmsc04 y revisión de cierre</a:t>
            </a:r>
            <a:endParaRPr lang="en-US" sz="1400" dirty="0"/>
          </a:p>
        </p:txBody>
      </p:sp>
      <p:sp>
        <p:nvSpPr>
          <p:cNvPr id="9" name="ps_fondo"/>
          <p:cNvSpPr/>
          <p:nvPr/>
        </p:nvSpPr>
        <p:spPr>
          <a:xfrm>
            <a:off x="6035040" y="1097280"/>
            <a:ext cx="2651760" cy="3520440"/>
          </a:xfrm>
          <a:prstGeom prst="roundRect">
            <a:avLst>
              <a:gd name="adj" fmla="val 2759"/>
            </a:avLst>
          </a:prstGeom>
          <a:solidFill>
            <a:srgbClr val="EEF2FA"/>
          </a:solidFill>
          <a:ln w="12700">
            <a:solidFill>
              <a:srgbClr val="EEF2FA"/>
            </a:solidFill>
            <a:prstDash val="solid"/>
          </a:ln>
        </p:spPr>
      </p:sp>
      <p:sp>
        <p:nvSpPr>
          <p:cNvPr id="10" name="ps_titulo"/>
          <p:cNvSpPr txBox="1"/>
          <p:nvPr/>
        </p:nvSpPr>
        <p:spPr>
          <a:xfrm>
            <a:off x="6172200" y="1170432"/>
            <a:ext cx="2377440" cy="41148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Paolo Sepúlveda</a:t>
            </a:r>
            <a:endParaRPr lang="en-US" sz="1500" dirty="0"/>
          </a:p>
        </p:txBody>
      </p:sp>
      <p:sp>
        <p:nvSpPr>
          <p:cNvPr id="11" name="ps_texto"/>
          <p:cNvSpPr txBox="1"/>
          <p:nvPr/>
        </p:nvSpPr>
        <p:spPr>
          <a:xfrm>
            <a:off x="6172200" y="1600200"/>
            <a:ext cx="2377440" cy="2926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Vectores S_M y S_E</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Arquitectura del entorno</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Espacios Gymnasium y simulador de Poisson</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Validación formal del simulador</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Fase 2 de β y benchmarks TWAP/VWAP</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COPEC y ECL, y cierre de los sprints 1 a 4</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Alcance actual y próximos pasos</a:t>
            </a:r>
            <a:endParaRPr lang="en-US" sz="3000" dirty="0"/>
          </a:p>
        </p:txBody>
      </p:sp>
      <p:sp>
        <p:nvSpPr>
          <p:cNvPr id="3" name="limites_fondo"/>
          <p:cNvSpPr/>
          <p:nvPr/>
        </p:nvSpPr>
        <p:spPr>
          <a:xfrm>
            <a:off x="457200" y="1097280"/>
            <a:ext cx="4023360" cy="3520440"/>
          </a:xfrm>
          <a:prstGeom prst="roundRect">
            <a:avLst>
              <a:gd name="adj" fmla="val 2078"/>
            </a:avLst>
          </a:prstGeom>
          <a:solidFill>
            <a:srgbClr val="EEF2FA"/>
          </a:solidFill>
          <a:ln w="12700">
            <a:solidFill>
              <a:srgbClr val="EEF2FA"/>
            </a:solidFill>
            <a:prstDash val="solid"/>
          </a:ln>
        </p:spPr>
      </p:sp>
      <p:sp>
        <p:nvSpPr>
          <p:cNvPr id="4" name="limites_titulo"/>
          <p:cNvSpPr txBox="1"/>
          <p:nvPr/>
        </p:nvSpPr>
        <p:spPr>
          <a:xfrm>
            <a:off x="594360" y="1170432"/>
            <a:ext cx="374904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Alcance del simulador y de los resultados</a:t>
            </a:r>
            <a:endParaRPr lang="en-US" sz="1400" dirty="0"/>
          </a:p>
        </p:txBody>
      </p:sp>
      <p:sp>
        <p:nvSpPr>
          <p:cNvPr id="5" name="limites_texto"/>
          <p:cNvSpPr txBox="1"/>
          <p:nvPr/>
        </p:nvSpPr>
        <p:spPr>
          <a:xfrm>
            <a:off x="594360" y="1645920"/>
            <a:ext cx="3749040" cy="2880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Aproxima la escala y el patrón del mercado; la distribución de retornos no es idéntica a la real</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Spread simulado bajo y volumen alto en la apertura: se interpretan resultados relativos entre estrategias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λ y β son provisionales (β solo en la apertura)</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Entrenamiento completo del sistema: sprints 5 y 6</a:t>
            </a:r>
            <a:endParaRPr lang="en-US" sz="1400" dirty="0"/>
          </a:p>
        </p:txBody>
      </p:sp>
      <p:sp>
        <p:nvSpPr>
          <p:cNvPr id="6" name="proximos_fondo"/>
          <p:cNvSpPr/>
          <p:nvPr/>
        </p:nvSpPr>
        <p:spPr>
          <a:xfrm>
            <a:off x="4663440" y="1097280"/>
            <a:ext cx="4023360" cy="3520440"/>
          </a:xfrm>
          <a:prstGeom prst="roundRect">
            <a:avLst>
              <a:gd name="adj" fmla="val 2078"/>
            </a:avLst>
          </a:prstGeom>
          <a:solidFill>
            <a:srgbClr val="E6ECF8"/>
          </a:solidFill>
          <a:ln w="12700">
            <a:solidFill>
              <a:srgbClr val="E6ECF8"/>
            </a:solidFill>
            <a:prstDash val="solid"/>
          </a:ln>
        </p:spPr>
      </p:sp>
      <p:sp>
        <p:nvSpPr>
          <p:cNvPr id="7" name="proximos_titulo"/>
          <p:cNvSpPr txBox="1"/>
          <p:nvPr/>
        </p:nvSpPr>
        <p:spPr>
          <a:xfrm>
            <a:off x="4800600" y="1170432"/>
            <a:ext cx="374904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Lo que viene</a:t>
            </a:r>
            <a:endParaRPr lang="en-US" sz="1400" dirty="0"/>
          </a:p>
        </p:txBody>
      </p:sp>
      <p:sp>
        <p:nvSpPr>
          <p:cNvPr id="8" name="proximos_texto"/>
          <p:cNvSpPr txBox="1"/>
          <p:nvPr/>
        </p:nvSpPr>
        <p:spPr>
          <a:xfrm>
            <a:off x="4800600" y="1645920"/>
            <a:ext cx="3749040" cy="2880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Sprint 5 (hasta el 23 oct): integración CTDE, ciclo de entrenamiento, meta-órdenes y primer entrenamiento</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Sprint 6: ajuste de hiperparámetros y evaluación por escenario de liquidez</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Sprint 7: 90 corridas y comparación estadística con TWAP y VWAP</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Sprints 8 y 9: memoria y defensa</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itulo II UTEM">
  <a:themeElements>
    <a:clrScheme name="Titulo II UTEM">
      <a:dk1>
        <a:srgbClr val="1A1F3C"/>
      </a:dk1>
      <a:lt1>
        <a:srgbClr val="FFFFFF"/>
      </a:lt1>
      <a:dk2>
        <a:srgbClr val="1E2761"/>
      </a:dk2>
      <a:lt2>
        <a:srgbClr val="EEF2FA"/>
      </a:lt2>
      <a:accent1>
        <a:srgbClr val="1E2761"/>
      </a:accent1>
      <a:accent2>
        <a:srgbClr val="5A6B9C"/>
      </a:accent2>
      <a:accent3>
        <a:srgbClr val="E8A33D"/>
      </a:accent3>
      <a:accent4>
        <a:srgbClr val="2E8B6E"/>
      </a:accent4>
      <a:accent5>
        <a:srgbClr val="C8553D"/>
      </a:accent5>
      <a:accent6>
        <a:srgbClr val="9FB0DC"/>
      </a:accent6>
      <a:hlink>
        <a:srgbClr val="1E2761"/>
      </a:hlink>
      <a:folHlink>
        <a:srgbClr val="5A6B9C"/>
      </a:folHlink>
    </a:clrScheme>
    <a:fontScheme name="Titulo II UT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II: avance hasta el Sprint 4</dc:title>
  <dc:subject>PptxGenJS Presentation</dc:subject>
  <dc:creator>Paolo Sepúlveda, Mauricio Reynoso, Benjamín Farias</dc:creator>
  <cp:lastModifiedBy>Paolo Sepúlveda, Mauricio Reynoso, Benjamín Farias</cp:lastModifiedBy>
  <cp:revision>1</cp:revision>
  <dcterms:created xsi:type="dcterms:W3CDTF">2026-10-22T21:55:26Z</dcterms:created>
  <dcterms:modified xsi:type="dcterms:W3CDTF">2026-10-22T21:55:26Z</dcterms:modified>
</cp:coreProperties>
</file>